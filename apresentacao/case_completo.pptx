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5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6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9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10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11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26bcc8a4-6133-032a-783c-22c97cab70b5}">
          <p14:sldIdLst>
            <p14:sldId id="256"/>
            <p14:sldId id="257"/>
          </p14:sldIdLst>
        </p14:section>
        <p14:section name="Dados e estrutura" id="{b4ef316e-2cda-cc3d-1579-4a635804a97e}">
          <p14:sldIdLst>
            <p14:sldId id="258"/>
            <p14:sldId id="259"/>
            <p14:sldId id="260"/>
          </p14:sldIdLst>
        </p14:section>
        <p14:section name="Qualidade" id="{30f64a86-6b3b-8f5e-426a-8d8dd46c73e4}">
          <p14:sldIdLst>
            <p14:sldId id="261"/>
            <p14:sldId id="262"/>
          </p14:sldIdLst>
        </p14:section>
        <p14:section name="Indicadores" id="{f3d67210-806f-1abc-5412-ee891fcdcda7}">
          <p14:sldIdLst>
            <p14:sldId id="263"/>
            <p14:sldId id="264"/>
            <p14:sldId id="265"/>
            <p14:sldId id="266"/>
            <p14:sldId id="267"/>
          </p14:sldIdLst>
        </p14:section>
        <p14:section name="Churn e risco" id="{4b3859ed-747d-8c26-7534-ba3ade30a73c}">
          <p14:sldIdLst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Reativação" id="{d502f920-4116-ce36-a6e3-e1277adb958f}">
          <p14:sldIdLst>
            <p14:sldId id="274"/>
            <p14:sldId id="275"/>
            <p14:sldId id="276"/>
            <p14:sldId id="277"/>
          </p14:sldIdLst>
        </p14:section>
        <p14:section name="Fechamento" id="{df63128b-4dd4-9efe-48fe-e67f44e4f9e0}">
          <p14:sldIdLst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328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F2328"/>
                </a:solidFill>
                <a:latin typeface="+mn-lt"/>
              </a:rPr>
              <a:t>Contratos vigentes no fim do mês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Contratos vigentes</c:v>
                </c:pt>
              </c:strCache>
            </c:strRef>
          </c:tx>
          <c:spPr>
            <a:solidFill>
              <a:srgbClr val="2A78D6"/>
            </a:solidFill>
            <a:ln w="25400" cap="flat">
              <a:solidFill>
                <a:srgbClr val="2A78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328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Sheet1!$A$2:$A$70</c:f>
              <c:multiLvlStrCache>
                <c:ptCount val="69"/>
                <c:lvl>
                  <c:pt idx="0">
                    <c:v>jan/21</c:v>
                  </c:pt>
                  <c:pt idx="1">
                    <c:v>fev/21</c:v>
                  </c:pt>
                  <c:pt idx="2">
                    <c:v>mar/21</c:v>
                  </c:pt>
                  <c:pt idx="3">
                    <c:v>abr/21</c:v>
                  </c:pt>
                  <c:pt idx="4">
                    <c:v>mai/21</c:v>
                  </c:pt>
                  <c:pt idx="5">
                    <c:v>jun/21</c:v>
                  </c:pt>
                  <c:pt idx="6">
                    <c:v>jul/21</c:v>
                  </c:pt>
                  <c:pt idx="7">
                    <c:v>ago/21</c:v>
                  </c:pt>
                  <c:pt idx="8">
                    <c:v>set/21</c:v>
                  </c:pt>
                  <c:pt idx="9">
                    <c:v>out/21</c:v>
                  </c:pt>
                  <c:pt idx="10">
                    <c:v>nov/21</c:v>
                  </c:pt>
                  <c:pt idx="11">
                    <c:v>dez/21</c:v>
                  </c:pt>
                  <c:pt idx="12">
                    <c:v>jan/22</c:v>
                  </c:pt>
                  <c:pt idx="13">
                    <c:v>fev/22</c:v>
                  </c:pt>
                  <c:pt idx="14">
                    <c:v>mar/22</c:v>
                  </c:pt>
                  <c:pt idx="15">
                    <c:v>abr/22</c:v>
                  </c:pt>
                  <c:pt idx="16">
                    <c:v>mai/22</c:v>
                  </c:pt>
                  <c:pt idx="17">
                    <c:v>jun/22</c:v>
                  </c:pt>
                  <c:pt idx="18">
                    <c:v>jul/22</c:v>
                  </c:pt>
                  <c:pt idx="19">
                    <c:v>ago/22</c:v>
                  </c:pt>
                  <c:pt idx="20">
                    <c:v>set/22</c:v>
                  </c:pt>
                  <c:pt idx="21">
                    <c:v>out/22</c:v>
                  </c:pt>
                  <c:pt idx="22">
                    <c:v>nov/22</c:v>
                  </c:pt>
                  <c:pt idx="23">
                    <c:v>dez/22</c:v>
                  </c:pt>
                  <c:pt idx="24">
                    <c:v>jan/23</c:v>
                  </c:pt>
                  <c:pt idx="25">
                    <c:v>fev/23</c:v>
                  </c:pt>
                  <c:pt idx="26">
                    <c:v>mar/23</c:v>
                  </c:pt>
                  <c:pt idx="27">
                    <c:v>abr/23</c:v>
                  </c:pt>
                  <c:pt idx="28">
                    <c:v>mai/23</c:v>
                  </c:pt>
                  <c:pt idx="29">
                    <c:v>jun/23</c:v>
                  </c:pt>
                  <c:pt idx="30">
                    <c:v>jul/23</c:v>
                  </c:pt>
                  <c:pt idx="31">
                    <c:v>ago/23</c:v>
                  </c:pt>
                  <c:pt idx="32">
                    <c:v>set/23</c:v>
                  </c:pt>
                  <c:pt idx="33">
                    <c:v>out/23</c:v>
                  </c:pt>
                  <c:pt idx="34">
                    <c:v>nov/23</c:v>
                  </c:pt>
                  <c:pt idx="35">
                    <c:v>dez/23</c:v>
                  </c:pt>
                  <c:pt idx="36">
                    <c:v>jan/24</c:v>
                  </c:pt>
                  <c:pt idx="37">
                    <c:v>fev/24</c:v>
                  </c:pt>
                  <c:pt idx="38">
                    <c:v>mar/24</c:v>
                  </c:pt>
                  <c:pt idx="39">
                    <c:v>abr/24</c:v>
                  </c:pt>
                  <c:pt idx="40">
                    <c:v>mai/24</c:v>
                  </c:pt>
                  <c:pt idx="41">
                    <c:v>jun/24</c:v>
                  </c:pt>
                  <c:pt idx="42">
                    <c:v>jul/24</c:v>
                  </c:pt>
                  <c:pt idx="43">
                    <c:v>ago/24</c:v>
                  </c:pt>
                  <c:pt idx="44">
                    <c:v>set/24</c:v>
                  </c:pt>
                  <c:pt idx="45">
                    <c:v>out/24</c:v>
                  </c:pt>
                  <c:pt idx="46">
                    <c:v>nov/24</c:v>
                  </c:pt>
                  <c:pt idx="47">
                    <c:v>dez/24</c:v>
                  </c:pt>
                  <c:pt idx="48">
                    <c:v>jan/25</c:v>
                  </c:pt>
                  <c:pt idx="49">
                    <c:v>fev/25</c:v>
                  </c:pt>
                  <c:pt idx="50">
                    <c:v>mar/25</c:v>
                  </c:pt>
                  <c:pt idx="51">
                    <c:v>abr/25</c:v>
                  </c:pt>
                  <c:pt idx="52">
                    <c:v>mai/25</c:v>
                  </c:pt>
                  <c:pt idx="53">
                    <c:v>jun/25</c:v>
                  </c:pt>
                  <c:pt idx="54">
                    <c:v>jul/25</c:v>
                  </c:pt>
                  <c:pt idx="55">
                    <c:v>ago/25</c:v>
                  </c:pt>
                  <c:pt idx="56">
                    <c:v>set/25</c:v>
                  </c:pt>
                  <c:pt idx="57">
                    <c:v>out/25</c:v>
                  </c:pt>
                  <c:pt idx="58">
                    <c:v>nov/25</c:v>
                  </c:pt>
                  <c:pt idx="59">
                    <c:v>dez/25</c:v>
                  </c:pt>
                  <c:pt idx="60">
                    <c:v>jan/26</c:v>
                  </c:pt>
                  <c:pt idx="61">
                    <c:v>fev/26</c:v>
                  </c:pt>
                  <c:pt idx="62">
                    <c:v>mar/26</c:v>
                  </c:pt>
                  <c:pt idx="63">
                    <c:v>abr/26</c:v>
                  </c:pt>
                  <c:pt idx="64">
                    <c:v>mai/26</c:v>
                  </c:pt>
                  <c:pt idx="65">
                    <c:v>jun/26</c:v>
                  </c:pt>
                  <c:pt idx="66">
                    <c:v>jul/26</c:v>
                  </c:pt>
                  <c:pt idx="67">
                    <c:v>ago/26</c:v>
                  </c:pt>
                  <c:pt idx="68">
                    <c:v>set/26</c:v>
                  </c:pt>
                </c:lvl>
              </c:multiLvlStrCache>
            </c:multiLvlStrRef>
          </c:cat>
          <c:val>
            <c:numRef>
              <c:f>Sheet1!$B$2:$B$70</c:f>
              <c:numCache>
                <c:formatCode>General</c:formatCode>
                <c:ptCount val="69"/>
                <c:pt idx="0">
                  <c:v>17</c:v>
                </c:pt>
                <c:pt idx="1">
                  <c:v>32</c:v>
                </c:pt>
                <c:pt idx="2">
                  <c:v>41</c:v>
                </c:pt>
                <c:pt idx="3">
                  <c:v>55</c:v>
                </c:pt>
                <c:pt idx="4">
                  <c:v>73</c:v>
                </c:pt>
                <c:pt idx="5">
                  <c:v>82</c:v>
                </c:pt>
                <c:pt idx="6">
                  <c:v>100</c:v>
                </c:pt>
                <c:pt idx="7">
                  <c:v>111</c:v>
                </c:pt>
                <c:pt idx="8">
                  <c:v>127</c:v>
                </c:pt>
                <c:pt idx="9">
                  <c:v>136</c:v>
                </c:pt>
                <c:pt idx="10">
                  <c:v>141</c:v>
                </c:pt>
                <c:pt idx="11">
                  <c:v>151</c:v>
                </c:pt>
                <c:pt idx="12">
                  <c:v>155</c:v>
                </c:pt>
                <c:pt idx="13">
                  <c:v>161</c:v>
                </c:pt>
                <c:pt idx="14">
                  <c:v>162</c:v>
                </c:pt>
                <c:pt idx="15">
                  <c:v>170</c:v>
                </c:pt>
                <c:pt idx="16">
                  <c:v>172</c:v>
                </c:pt>
                <c:pt idx="17">
                  <c:v>178</c:v>
                </c:pt>
                <c:pt idx="18">
                  <c:v>187</c:v>
                </c:pt>
                <c:pt idx="19">
                  <c:v>192</c:v>
                </c:pt>
                <c:pt idx="20">
                  <c:v>203</c:v>
                </c:pt>
                <c:pt idx="21">
                  <c:v>216</c:v>
                </c:pt>
                <c:pt idx="22">
                  <c:v>229</c:v>
                </c:pt>
                <c:pt idx="23">
                  <c:v>232</c:v>
                </c:pt>
                <c:pt idx="24">
                  <c:v>235</c:v>
                </c:pt>
                <c:pt idx="25">
                  <c:v>244</c:v>
                </c:pt>
                <c:pt idx="26">
                  <c:v>247</c:v>
                </c:pt>
                <c:pt idx="27">
                  <c:v>265</c:v>
                </c:pt>
                <c:pt idx="28">
                  <c:v>270</c:v>
                </c:pt>
                <c:pt idx="29">
                  <c:v>272</c:v>
                </c:pt>
                <c:pt idx="30">
                  <c:v>281</c:v>
                </c:pt>
                <c:pt idx="31">
                  <c:v>281</c:v>
                </c:pt>
                <c:pt idx="32">
                  <c:v>288</c:v>
                </c:pt>
                <c:pt idx="33">
                  <c:v>296</c:v>
                </c:pt>
                <c:pt idx="34">
                  <c:v>302</c:v>
                </c:pt>
                <c:pt idx="35">
                  <c:v>310</c:v>
                </c:pt>
                <c:pt idx="36">
                  <c:v>310</c:v>
                </c:pt>
                <c:pt idx="37">
                  <c:v>319</c:v>
                </c:pt>
                <c:pt idx="38">
                  <c:v>328</c:v>
                </c:pt>
                <c:pt idx="39">
                  <c:v>340</c:v>
                </c:pt>
                <c:pt idx="40">
                  <c:v>352</c:v>
                </c:pt>
                <c:pt idx="41">
                  <c:v>358</c:v>
                </c:pt>
                <c:pt idx="42">
                  <c:v>372</c:v>
                </c:pt>
                <c:pt idx="43">
                  <c:v>383</c:v>
                </c:pt>
                <c:pt idx="44">
                  <c:v>382</c:v>
                </c:pt>
                <c:pt idx="45">
                  <c:v>392</c:v>
                </c:pt>
                <c:pt idx="46">
                  <c:v>391</c:v>
                </c:pt>
                <c:pt idx="47">
                  <c:v>401</c:v>
                </c:pt>
                <c:pt idx="48">
                  <c:v>405</c:v>
                </c:pt>
                <c:pt idx="49">
                  <c:v>402</c:v>
                </c:pt>
                <c:pt idx="50">
                  <c:v>411</c:v>
                </c:pt>
                <c:pt idx="51">
                  <c:v>418</c:v>
                </c:pt>
                <c:pt idx="52">
                  <c:v>426</c:v>
                </c:pt>
                <c:pt idx="53">
                  <c:v>431</c:v>
                </c:pt>
                <c:pt idx="54">
                  <c:v>434</c:v>
                </c:pt>
                <c:pt idx="55">
                  <c:v>437</c:v>
                </c:pt>
                <c:pt idx="56">
                  <c:v>448</c:v>
                </c:pt>
                <c:pt idx="57">
                  <c:v>446</c:v>
                </c:pt>
                <c:pt idx="58">
                  <c:v>449</c:v>
                </c:pt>
                <c:pt idx="59">
                  <c:v>461</c:v>
                </c:pt>
                <c:pt idx="60">
                  <c:v>463</c:v>
                </c:pt>
                <c:pt idx="61">
                  <c:v>460</c:v>
                </c:pt>
                <c:pt idx="62">
                  <c:v>456</c:v>
                </c:pt>
                <c:pt idx="63">
                  <c:v>460</c:v>
                </c:pt>
                <c:pt idx="64">
                  <c:v>465</c:v>
                </c:pt>
                <c:pt idx="65">
                  <c:v>467</c:v>
                </c:pt>
                <c:pt idx="66">
                  <c:v>459</c:v>
                </c:pt>
                <c:pt idx="67">
                  <c:v>440</c:v>
                </c:pt>
                <c:pt idx="68">
                  <c:v>428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328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C3C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2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3E5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328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F2328"/>
                </a:solidFill>
                <a:latin typeface="+mn-lt"/>
              </a:rPr>
              <a:t>MRR vigente no fim do mês (R$ mil)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MRR vigente (R$ mil)</c:v>
                </c:pt>
              </c:strCache>
            </c:strRef>
          </c:tx>
          <c:spPr>
            <a:solidFill>
              <a:srgbClr val="2A78D6"/>
            </a:solidFill>
            <a:ln w="25400" cap="flat">
              <a:solidFill>
                <a:srgbClr val="2A78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328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Sheet1!$A$2:$A$70</c:f>
              <c:multiLvlStrCache>
                <c:ptCount val="69"/>
                <c:lvl>
                  <c:pt idx="0">
                    <c:v>jan/21</c:v>
                  </c:pt>
                  <c:pt idx="1">
                    <c:v>fev/21</c:v>
                  </c:pt>
                  <c:pt idx="2">
                    <c:v>mar/21</c:v>
                  </c:pt>
                  <c:pt idx="3">
                    <c:v>abr/21</c:v>
                  </c:pt>
                  <c:pt idx="4">
                    <c:v>mai/21</c:v>
                  </c:pt>
                  <c:pt idx="5">
                    <c:v>jun/21</c:v>
                  </c:pt>
                  <c:pt idx="6">
                    <c:v>jul/21</c:v>
                  </c:pt>
                  <c:pt idx="7">
                    <c:v>ago/21</c:v>
                  </c:pt>
                  <c:pt idx="8">
                    <c:v>set/21</c:v>
                  </c:pt>
                  <c:pt idx="9">
                    <c:v>out/21</c:v>
                  </c:pt>
                  <c:pt idx="10">
                    <c:v>nov/21</c:v>
                  </c:pt>
                  <c:pt idx="11">
                    <c:v>dez/21</c:v>
                  </c:pt>
                  <c:pt idx="12">
                    <c:v>jan/22</c:v>
                  </c:pt>
                  <c:pt idx="13">
                    <c:v>fev/22</c:v>
                  </c:pt>
                  <c:pt idx="14">
                    <c:v>mar/22</c:v>
                  </c:pt>
                  <c:pt idx="15">
                    <c:v>abr/22</c:v>
                  </c:pt>
                  <c:pt idx="16">
                    <c:v>mai/22</c:v>
                  </c:pt>
                  <c:pt idx="17">
                    <c:v>jun/22</c:v>
                  </c:pt>
                  <c:pt idx="18">
                    <c:v>jul/22</c:v>
                  </c:pt>
                  <c:pt idx="19">
                    <c:v>ago/22</c:v>
                  </c:pt>
                  <c:pt idx="20">
                    <c:v>set/22</c:v>
                  </c:pt>
                  <c:pt idx="21">
                    <c:v>out/22</c:v>
                  </c:pt>
                  <c:pt idx="22">
                    <c:v>nov/22</c:v>
                  </c:pt>
                  <c:pt idx="23">
                    <c:v>dez/22</c:v>
                  </c:pt>
                  <c:pt idx="24">
                    <c:v>jan/23</c:v>
                  </c:pt>
                  <c:pt idx="25">
                    <c:v>fev/23</c:v>
                  </c:pt>
                  <c:pt idx="26">
                    <c:v>mar/23</c:v>
                  </c:pt>
                  <c:pt idx="27">
                    <c:v>abr/23</c:v>
                  </c:pt>
                  <c:pt idx="28">
                    <c:v>mai/23</c:v>
                  </c:pt>
                  <c:pt idx="29">
                    <c:v>jun/23</c:v>
                  </c:pt>
                  <c:pt idx="30">
                    <c:v>jul/23</c:v>
                  </c:pt>
                  <c:pt idx="31">
                    <c:v>ago/23</c:v>
                  </c:pt>
                  <c:pt idx="32">
                    <c:v>set/23</c:v>
                  </c:pt>
                  <c:pt idx="33">
                    <c:v>out/23</c:v>
                  </c:pt>
                  <c:pt idx="34">
                    <c:v>nov/23</c:v>
                  </c:pt>
                  <c:pt idx="35">
                    <c:v>dez/23</c:v>
                  </c:pt>
                  <c:pt idx="36">
                    <c:v>jan/24</c:v>
                  </c:pt>
                  <c:pt idx="37">
                    <c:v>fev/24</c:v>
                  </c:pt>
                  <c:pt idx="38">
                    <c:v>mar/24</c:v>
                  </c:pt>
                  <c:pt idx="39">
                    <c:v>abr/24</c:v>
                  </c:pt>
                  <c:pt idx="40">
                    <c:v>mai/24</c:v>
                  </c:pt>
                  <c:pt idx="41">
                    <c:v>jun/24</c:v>
                  </c:pt>
                  <c:pt idx="42">
                    <c:v>jul/24</c:v>
                  </c:pt>
                  <c:pt idx="43">
                    <c:v>ago/24</c:v>
                  </c:pt>
                  <c:pt idx="44">
                    <c:v>set/24</c:v>
                  </c:pt>
                  <c:pt idx="45">
                    <c:v>out/24</c:v>
                  </c:pt>
                  <c:pt idx="46">
                    <c:v>nov/24</c:v>
                  </c:pt>
                  <c:pt idx="47">
                    <c:v>dez/24</c:v>
                  </c:pt>
                  <c:pt idx="48">
                    <c:v>jan/25</c:v>
                  </c:pt>
                  <c:pt idx="49">
                    <c:v>fev/25</c:v>
                  </c:pt>
                  <c:pt idx="50">
                    <c:v>mar/25</c:v>
                  </c:pt>
                  <c:pt idx="51">
                    <c:v>abr/25</c:v>
                  </c:pt>
                  <c:pt idx="52">
                    <c:v>mai/25</c:v>
                  </c:pt>
                  <c:pt idx="53">
                    <c:v>jun/25</c:v>
                  </c:pt>
                  <c:pt idx="54">
                    <c:v>jul/25</c:v>
                  </c:pt>
                  <c:pt idx="55">
                    <c:v>ago/25</c:v>
                  </c:pt>
                  <c:pt idx="56">
                    <c:v>set/25</c:v>
                  </c:pt>
                  <c:pt idx="57">
                    <c:v>out/25</c:v>
                  </c:pt>
                  <c:pt idx="58">
                    <c:v>nov/25</c:v>
                  </c:pt>
                  <c:pt idx="59">
                    <c:v>dez/25</c:v>
                  </c:pt>
                  <c:pt idx="60">
                    <c:v>jan/26</c:v>
                  </c:pt>
                  <c:pt idx="61">
                    <c:v>fev/26</c:v>
                  </c:pt>
                  <c:pt idx="62">
                    <c:v>mar/26</c:v>
                  </c:pt>
                  <c:pt idx="63">
                    <c:v>abr/26</c:v>
                  </c:pt>
                  <c:pt idx="64">
                    <c:v>mai/26</c:v>
                  </c:pt>
                  <c:pt idx="65">
                    <c:v>jun/26</c:v>
                  </c:pt>
                  <c:pt idx="66">
                    <c:v>jul/26</c:v>
                  </c:pt>
                  <c:pt idx="67">
                    <c:v>ago/26</c:v>
                  </c:pt>
                  <c:pt idx="68">
                    <c:v>set/26</c:v>
                  </c:pt>
                </c:lvl>
              </c:multiLvlStrCache>
            </c:multiLvlStrRef>
          </c:cat>
          <c:val>
            <c:numRef>
              <c:f>Sheet1!$B$2:$B$70</c:f>
              <c:numCache>
                <c:formatCode>General</c:formatCode>
                <c:ptCount val="69"/>
                <c:pt idx="0">
                  <c:v>6.2</c:v>
                </c:pt>
                <c:pt idx="1">
                  <c:v>12.1</c:v>
                </c:pt>
                <c:pt idx="2">
                  <c:v>17.6</c:v>
                </c:pt>
                <c:pt idx="3">
                  <c:v>23.6</c:v>
                </c:pt>
                <c:pt idx="4">
                  <c:v>33</c:v>
                </c:pt>
                <c:pt idx="5">
                  <c:v>36.6</c:v>
                </c:pt>
                <c:pt idx="6">
                  <c:v>41.7</c:v>
                </c:pt>
                <c:pt idx="7">
                  <c:v>48.1</c:v>
                </c:pt>
                <c:pt idx="8">
                  <c:v>56.3</c:v>
                </c:pt>
                <c:pt idx="9">
                  <c:v>60.4</c:v>
                </c:pt>
                <c:pt idx="10">
                  <c:v>63.2</c:v>
                </c:pt>
                <c:pt idx="11">
                  <c:v>69</c:v>
                </c:pt>
                <c:pt idx="12">
                  <c:v>72.2</c:v>
                </c:pt>
                <c:pt idx="13">
                  <c:v>75.9</c:v>
                </c:pt>
                <c:pt idx="14">
                  <c:v>77.9</c:v>
                </c:pt>
                <c:pt idx="15">
                  <c:v>83.5</c:v>
                </c:pt>
                <c:pt idx="16">
                  <c:v>83.3</c:v>
                </c:pt>
                <c:pt idx="17">
                  <c:v>88.4</c:v>
                </c:pt>
                <c:pt idx="18">
                  <c:v>90.9</c:v>
                </c:pt>
                <c:pt idx="19">
                  <c:v>92.9</c:v>
                </c:pt>
                <c:pt idx="20">
                  <c:v>94.6</c:v>
                </c:pt>
                <c:pt idx="21">
                  <c:v>100.5</c:v>
                </c:pt>
                <c:pt idx="22">
                  <c:v>109.1</c:v>
                </c:pt>
                <c:pt idx="23">
                  <c:v>111.1</c:v>
                </c:pt>
                <c:pt idx="24">
                  <c:v>112.3</c:v>
                </c:pt>
                <c:pt idx="25">
                  <c:v>120.8</c:v>
                </c:pt>
                <c:pt idx="26">
                  <c:v>121.7</c:v>
                </c:pt>
                <c:pt idx="27">
                  <c:v>131.3</c:v>
                </c:pt>
                <c:pt idx="28">
                  <c:v>131.8</c:v>
                </c:pt>
                <c:pt idx="29">
                  <c:v>130</c:v>
                </c:pt>
                <c:pt idx="30">
                  <c:v>138.3</c:v>
                </c:pt>
                <c:pt idx="31">
                  <c:v>139.5</c:v>
                </c:pt>
                <c:pt idx="32">
                  <c:v>143.3</c:v>
                </c:pt>
                <c:pt idx="33">
                  <c:v>146.8</c:v>
                </c:pt>
                <c:pt idx="34">
                  <c:v>151.3</c:v>
                </c:pt>
                <c:pt idx="35">
                  <c:v>155.1</c:v>
                </c:pt>
                <c:pt idx="36">
                  <c:v>154.5</c:v>
                </c:pt>
                <c:pt idx="37">
                  <c:v>158.2</c:v>
                </c:pt>
                <c:pt idx="38">
                  <c:v>162.7</c:v>
                </c:pt>
                <c:pt idx="39">
                  <c:v>167.5</c:v>
                </c:pt>
                <c:pt idx="40">
                  <c:v>173.4</c:v>
                </c:pt>
                <c:pt idx="41">
                  <c:v>174.3</c:v>
                </c:pt>
                <c:pt idx="42">
                  <c:v>180.1</c:v>
                </c:pt>
                <c:pt idx="43">
                  <c:v>183.5</c:v>
                </c:pt>
                <c:pt idx="44">
                  <c:v>185.1</c:v>
                </c:pt>
                <c:pt idx="45">
                  <c:v>190</c:v>
                </c:pt>
                <c:pt idx="46">
                  <c:v>191.7</c:v>
                </c:pt>
                <c:pt idx="47">
                  <c:v>195.8</c:v>
                </c:pt>
                <c:pt idx="48">
                  <c:v>196.8</c:v>
                </c:pt>
                <c:pt idx="49">
                  <c:v>191.2</c:v>
                </c:pt>
                <c:pt idx="50">
                  <c:v>193.1</c:v>
                </c:pt>
                <c:pt idx="51">
                  <c:v>195</c:v>
                </c:pt>
                <c:pt idx="52">
                  <c:v>197.7</c:v>
                </c:pt>
                <c:pt idx="53">
                  <c:v>198.9</c:v>
                </c:pt>
                <c:pt idx="54">
                  <c:v>200</c:v>
                </c:pt>
                <c:pt idx="55">
                  <c:v>198.4</c:v>
                </c:pt>
                <c:pt idx="56">
                  <c:v>202.7</c:v>
                </c:pt>
                <c:pt idx="57">
                  <c:v>201.4</c:v>
                </c:pt>
                <c:pt idx="58">
                  <c:v>204.4</c:v>
                </c:pt>
                <c:pt idx="59">
                  <c:v>211.6</c:v>
                </c:pt>
                <c:pt idx="60">
                  <c:v>213.1</c:v>
                </c:pt>
                <c:pt idx="61">
                  <c:v>214.8</c:v>
                </c:pt>
                <c:pt idx="62">
                  <c:v>212.2</c:v>
                </c:pt>
                <c:pt idx="63">
                  <c:v>214.2</c:v>
                </c:pt>
                <c:pt idx="64">
                  <c:v>222.7</c:v>
                </c:pt>
                <c:pt idx="65">
                  <c:v>224.8</c:v>
                </c:pt>
                <c:pt idx="66">
                  <c:v>216.5</c:v>
                </c:pt>
                <c:pt idx="67">
                  <c:v>206.4</c:v>
                </c:pt>
                <c:pt idx="68">
                  <c:v>200.9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328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C3C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2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3E5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Novos contratos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32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  <c:pt idx="5">
                    <c:v>2026*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190</c:v>
                </c:pt>
                <c:pt idx="1">
                  <c:v>155</c:v>
                </c:pt>
                <c:pt idx="2">
                  <c:v>186</c:v>
                </c:pt>
                <c:pt idx="3">
                  <c:v>191</c:v>
                </c:pt>
                <c:pt idx="4">
                  <c:v>183</c:v>
                </c:pt>
                <c:pt idx="5">
                  <c:v>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Cancelamentos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32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  <c:pt idx="5">
                    <c:v>2026*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39</c:v>
                </c:pt>
                <c:pt idx="1">
                  <c:v>74</c:v>
                </c:pt>
                <c:pt idx="2">
                  <c:v>108</c:v>
                </c:pt>
                <c:pt idx="3">
                  <c:v>100</c:v>
                </c:pt>
                <c:pt idx="4">
                  <c:v>123</c:v>
                </c:pt>
                <c:pt idx="5">
                  <c:v>128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32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-8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C3C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F232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Trimestres anteriores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%;;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1T24</c:v>
                  </c:pt>
                  <c:pt idx="1">
                    <c:v>2T24</c:v>
                  </c:pt>
                  <c:pt idx="2">
                    <c:v>3T24</c:v>
                  </c:pt>
                  <c:pt idx="3">
                    <c:v>4T24</c:v>
                  </c:pt>
                  <c:pt idx="4">
                    <c:v>1T25</c:v>
                  </c:pt>
                  <c:pt idx="5">
                    <c:v>2T25</c:v>
                  </c:pt>
                  <c:pt idx="6">
                    <c:v>3T25</c:v>
                  </c:pt>
                  <c:pt idx="7">
                    <c:v>4T25</c:v>
                  </c:pt>
                  <c:pt idx="8">
                    <c:v>1T26</c:v>
                  </c:pt>
                  <c:pt idx="9">
                    <c:v>2T26</c:v>
                  </c:pt>
                  <c:pt idx="10">
                    <c:v>3T26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0.02981895633652822</c:v>
                </c:pt>
                <c:pt idx="1">
                  <c:v>0.013725490196078431</c:v>
                </c:pt>
                <c:pt idx="2">
                  <c:v>0.025157232704402514</c:v>
                </c:pt>
                <c:pt idx="3">
                  <c:v>0.025751072961373394</c:v>
                </c:pt>
                <c:pt idx="4">
                  <c:v>0.027317880794701987</c:v>
                </c:pt>
                <c:pt idx="5">
                  <c:v>0.023107569721115537</c:v>
                </c:pt>
                <c:pt idx="6">
                  <c:v>0.02457757296466974</c:v>
                </c:pt>
                <c:pt idx="7">
                  <c:v>0.02159344750558451</c:v>
                </c:pt>
                <c:pt idx="8">
                  <c:v>0.028901734104046242</c:v>
                </c:pt>
                <c:pt idx="9">
                  <c:v>0.02824040550325851</c:v>
                </c:pt>
                <c:pt idx="10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Trimestre atual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0.0%;;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1T24</c:v>
                  </c:pt>
                  <c:pt idx="1">
                    <c:v>2T24</c:v>
                  </c:pt>
                  <c:pt idx="2">
                    <c:v>3T24</c:v>
                  </c:pt>
                  <c:pt idx="3">
                    <c:v>4T24</c:v>
                  </c:pt>
                  <c:pt idx="4">
                    <c:v>1T25</c:v>
                  </c:pt>
                  <c:pt idx="5">
                    <c:v>2T25</c:v>
                  </c:pt>
                  <c:pt idx="6">
                    <c:v>3T25</c:v>
                  </c:pt>
                  <c:pt idx="7">
                    <c:v>4T25</c:v>
                  </c:pt>
                  <c:pt idx="8">
                    <c:v>1T26</c:v>
                  </c:pt>
                  <c:pt idx="9">
                    <c:v>2T26</c:v>
                  </c:pt>
                  <c:pt idx="10">
                    <c:v>3T26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0.03587115666178624</c:v>
                </c:pt>
              </c:numCache>
            </c:numRef>
          </c:val>
        </c:ser>
        <c:dLbls>
          <c:numFmt formatCode="0.0%;;;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C3C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328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F2328"/>
                </a:solidFill>
                <a:latin typeface="+mn-lt"/>
              </a:rPr>
              <a:t>Contratos cancelados por motivo (2021 a 2026)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Cancelamentos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32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Outro</c:v>
                  </c:pt>
                  <c:pt idx="1">
                    <c:v>Migração</c:v>
                  </c:pt>
                  <c:pt idx="2">
                    <c:v>Preço</c:v>
                  </c:pt>
                  <c:pt idx="3">
                    <c:v>Produto</c:v>
                  </c:pt>
                  <c:pt idx="4">
                    <c:v>Concorrentes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86</c:v>
                </c:pt>
                <c:pt idx="1">
                  <c:v>87</c:v>
                </c:pt>
                <c:pt idx="2">
                  <c:v>103</c:v>
                </c:pt>
                <c:pt idx="3">
                  <c:v>110</c:v>
                </c:pt>
                <c:pt idx="4">
                  <c:v>186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32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BFC3C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328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F2328"/>
                </a:solidFill>
                <a:latin typeface="+mn-lt"/>
              </a:rPr>
              <a:t>Chance de cancelar nos 6 meses seguintes, por tempo de casa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Chance de cancelar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32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0-3 meses</c:v>
                  </c:pt>
                  <c:pt idx="1">
                    <c:v>3-6 meses</c:v>
                  </c:pt>
                  <c:pt idx="2">
                    <c:v>6-12 meses</c:v>
                  </c:pt>
                  <c:pt idx="3">
                    <c:v>12-24 meses</c:v>
                  </c:pt>
                  <c:pt idx="4">
                    <c:v>24-36 meses</c:v>
                  </c:pt>
                  <c:pt idx="5">
                    <c:v>36+ meses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0.22038980509745126</c:v>
                </c:pt>
                <c:pt idx="1">
                  <c:v>0.19202898550724637</c:v>
                </c:pt>
                <c:pt idx="2">
                  <c:v>0.16103603603603603</c:v>
                </c:pt>
                <c:pt idx="3">
                  <c:v>0.14488392089423904</c:v>
                </c:pt>
                <c:pt idx="4">
                  <c:v>0.08443908323281062</c:v>
                </c:pt>
                <c:pt idx="5">
                  <c:v>0.013388259526261586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0" i="0" strike="noStrike" sz="1100" u="none">
                  <a:solidFill>
                    <a:srgbClr val="1F232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C3C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328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F2328"/>
                </a:solidFill>
                <a:latin typeface="+mn-lt"/>
              </a:rPr>
              <a:t>% dos contratos cancelados, por plano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cancelados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32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Themis Essencial</c:v>
                  </c:pt>
                  <c:pt idx="1">
                    <c:v>Astrea Pro</c:v>
                  </c:pt>
                  <c:pt idx="2">
                    <c:v>Themis Enterprise</c:v>
                  </c:pt>
                  <c:pt idx="3">
                    <c:v>Astrea Start</c:v>
                  </c:pt>
                  <c:pt idx="4">
                    <c:v>Astrea Business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0.606</c:v>
                </c:pt>
                <c:pt idx="1">
                  <c:v>0.576</c:v>
                </c:pt>
                <c:pt idx="2">
                  <c:v>0.572</c:v>
                </c:pt>
                <c:pt idx="3">
                  <c:v>0.561</c:v>
                </c:pt>
                <c:pt idx="4">
                  <c:v>0.537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100" u="none">
                  <a:solidFill>
                    <a:srgbClr val="1F232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BFC3C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328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F2328"/>
                </a:solidFill>
                <a:latin typeface="+mn-lt"/>
              </a:rPr>
              <a:t>% dos contratos cancelados, por periodicidade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cancelados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32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Anual</c:v>
                  </c:pt>
                  <c:pt idx="1">
                    <c:v>Trimestral</c:v>
                  </c:pt>
                  <c:pt idx="2">
                    <c:v>Semestral</c:v>
                  </c:pt>
                  <c:pt idx="3">
                    <c:v>Mensal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0.603</c:v>
                </c:pt>
                <c:pt idx="1">
                  <c:v>0.598</c:v>
                </c:pt>
                <c:pt idx="2">
                  <c:v>0.577</c:v>
                </c:pt>
                <c:pt idx="3">
                  <c:v>0.546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100" u="none">
                  <a:solidFill>
                    <a:srgbClr val="1F232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BFC3C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328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F2328"/>
                </a:solidFill>
                <a:latin typeface="+mn-lt"/>
              </a:rPr>
              <a:t>Cancelaram até out/26, por nível de risco previsto em abr/26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Risco alto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0.0%;;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32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Alto</c:v>
                  </c:pt>
                  <c:pt idx="1">
                    <c:v>Médio</c:v>
                  </c:pt>
                  <c:pt idx="2">
                    <c:v>Baixo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0.24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Demais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%;;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32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Alto</c:v>
                  </c:pt>
                  <c:pt idx="1">
                    <c:v>Médio</c:v>
                  </c:pt>
                  <c:pt idx="2">
                    <c:v>Baixo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0.16</c:v>
                </c:pt>
                <c:pt idx="2">
                  <c:v>0.011</c:v>
                </c:pt>
              </c:numCache>
            </c:numRef>
          </c:val>
        </c:ser>
        <c:dLbls>
          <c:numFmt formatCode="0.0%;;;" sourceLinked="0"/>
          <c:txPr>
            <a:bodyPr/>
            <a:lstStyle/>
            <a:p>
              <a:pPr>
                <a:defRPr b="0" i="0" strike="noStrike" sz="1100" u="none">
                  <a:solidFill>
                    <a:srgbClr val="1F232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C3C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328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F2328"/>
                </a:solidFill>
                <a:latin typeface="+mn-lt"/>
              </a:rPr>
              <a:t>% dos cancelados que abriram um contrato novo em até...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Voltaram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32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até 6 meses</c:v>
                  </c:pt>
                  <c:pt idx="1">
                    <c:v>até 12 meses</c:v>
                  </c:pt>
                  <c:pt idx="2">
                    <c:v>até 18 meses</c:v>
                  </c:pt>
                  <c:pt idx="3">
                    <c:v>até 24 meses</c:v>
                  </c:pt>
                  <c:pt idx="4">
                    <c:v>até 36 meses</c:v>
                  </c:pt>
                  <c:pt idx="5">
                    <c:v>até 48 meses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0.09</c:v>
                </c:pt>
                <c:pt idx="1">
                  <c:v>0.159</c:v>
                </c:pt>
                <c:pt idx="2">
                  <c:v>0.223</c:v>
                </c:pt>
                <c:pt idx="3">
                  <c:v>0.284</c:v>
                </c:pt>
                <c:pt idx="4">
                  <c:v>0.427</c:v>
                </c:pt>
                <c:pt idx="5">
                  <c:v>0.529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100" u="none">
                  <a:solidFill>
                    <a:srgbClr val="1F232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C3C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dos clientes perdidos</c:v>
                </c:pt>
              </c:strCache>
            </c:strRef>
          </c:tx>
          <c:spPr>
            <a:solidFill>
              <a:srgbClr val="A3A8AF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32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Themis Enterprise</c:v>
                  </c:pt>
                  <c:pt idx="1">
                    <c:v>Astrea Business</c:v>
                  </c:pt>
                  <c:pt idx="2">
                    <c:v>Astrea Pro</c:v>
                  </c:pt>
                  <c:pt idx="3">
                    <c:v>Themis Essencial</c:v>
                  </c:pt>
                  <c:pt idx="4">
                    <c:v>Astrea Start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0.183</c:v>
                </c:pt>
                <c:pt idx="1">
                  <c:v>0.177</c:v>
                </c:pt>
                <c:pt idx="2">
                  <c:v>0.224</c:v>
                </c:pt>
                <c:pt idx="3">
                  <c:v>0.211</c:v>
                </c:pt>
                <c:pt idx="4">
                  <c:v>0.205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% do MRR potencial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32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Themis Enterprise</c:v>
                  </c:pt>
                  <c:pt idx="1">
                    <c:v>Astrea Business</c:v>
                  </c:pt>
                  <c:pt idx="2">
                    <c:v>Astrea Pro</c:v>
                  </c:pt>
                  <c:pt idx="3">
                    <c:v>Themis Essencial</c:v>
                  </c:pt>
                  <c:pt idx="4">
                    <c:v>Astrea Start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0.482</c:v>
                </c:pt>
                <c:pt idx="1">
                  <c:v>0.233</c:v>
                </c:pt>
                <c:pt idx="2">
                  <c:v>0.147</c:v>
                </c:pt>
                <c:pt idx="3">
                  <c:v>0.093</c:v>
                </c:pt>
                <c:pt idx="4">
                  <c:v>0.045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100" u="none">
                  <a:solidFill>
                    <a:srgbClr val="1F232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-5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BFC3C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F232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Vou apresentar o caminho completo: como organizei os dados, o que encontrei de qualidade, os indicadores que escolhi, o que explica o churn e, por fim, a segmentação para a campanha de reativação.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São cinco partes, que seguem as perguntas do case. Cada uma usa o resultado da anterior.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arquivo do case foi para o Google Sheets e de lá para o BigQuery, em três camadas. A bronze é uma cópia fiel com a data de carga. A silver é onde está todo o tratamento. A gold tem o que vai para o negócio: o score de risco e a segmentação.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estrutura final tem duas tabelas. Contratos é a tabela principal: cada linha é um contrato. Ela se liga a planos pelo id_plano. O cliente é identificado pelo CPF, e um CPF pode ter vários contratos. Na silver eu também criei campos calculados, como o tempo de vida e as flags de qualidade, que vou mostrar na próxima parte.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dos números, o que é cada registro. A base tem mil contratos de 750 clientes. Um ponto importante é que o MRR aqui é o preço de tabela do plano, porque a base não tem o valor pago. Os cupons ficam de fora desse cálculo.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Esses foram os principais problemas. O CPF já vinha sem os zeros no arquivo original, provavelmente porque a coluna foi tratada como número. A regra de plano duplicado é violada em 11 casos no histórico. Como não dá para saber qual data está errada, mantive os registros e marquei com uma flag. Migração e plano anual não são erros técnicos, mas são inconsistências que eu levaria para o negócio.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ter certeza de que o tratamento não perdeu nem alterou nada, comparei a bronze com a silver. Mesma quantidade de linhas, mesma soma de valores, mesma contagem por status. A única diferença é a esperada: os CPFs corrigidos.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Esses são os seis números que eu colocaria no topo de um painel executivo. Em laranja estão os que indicam perda ou risco. A inadimplência chama atenção: 15% dos contratos vigentes, o que representa 31 mil reais de MRR.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carteira cresceu de forma consistente desde 2021 e atingiu o pico em junho deste ano. Depois disso caiu. Aqui eu faço uma ressalva: a base não tem nenhum contrato novo depois de 19 de julho, mas tem cancelamentos até setembro. Então parte dessa queda pode ser só o corte dos dados. Por isso, mais à frente, olho para a taxa de churn, que não depende das entradas.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volume de entradas é praticamente o mesmo todo ano, por volta de 190 contratos. O que muda são os cancelamentos, que triplicaram desde 2021. Em 2021 entravam quase cinco contratos para cada cancelamento. Em 2025, um e meio.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 é o indicador que eu acompanharia mês a mês. Ele mede a velocidade com que a carteira perde contratos, e não depende de quantos entraram. No terceiro trimestre de 2026 ele chegou ao nível mais alto desde meados de 2023, puxado por julho e agosto.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o painel ser confiável, cada indicador precisa ter uma definição única. Essas são as definições que usei em todos os números da apresentação.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Concorrentes lidera tanto em quantidade quanto em MRR perdido. Um ponto de qualidade: quem cancela por migração deveria abrir outro contrato logo em seguida, mas isso quase não acontece. Pode ser que o motivo esteja sendo registrado de forma diferente do que o nome sugere.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 foi o achado mais forte da exploração. A chance de cancelar cai conforme o cliente fica mais tempo. Nos primeiros três meses é de 22%, depois de três anos é de pouco mais de 1%. Isso indica que o esforço de retenção deve estar concentrado no primeiro 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Testei também se algum plano ou periodicidade cancela mais. A diferença existe, mas é pequena. Isso foi importante para a análise porque tira o foco do produto e coloca no momento da jornada. E foi isso que guiou o modelo de risco, que mostro agora.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modelo é uma tabela de taxas históricas. Eu volto no tempo mês a mês, vejo quem estava ativo e quem cancelou nos seis meses seguintes, e calculo a taxa por perfil. Escolhi esse formato porque a base é pequena e poucas variáveis têm sinal. Um modelo mais complexo, como uma regressão logística, faz sentido quando tivermos dados de uso do produto.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saber se o modelo funciona, simulei o passado. Treinei com os dados até abril e vi quem cancelou depois. Dos contratos que o modelo colocou em risco alto, 24% cancelaram. No risco baixo, só 1%. Ou seja, a lista de risco alto é onde o CS deve atuar primeiro.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Aplicando o modelo hoje, 164 contratos estão em risco alto, com 75 mil reais de MRR. Para isso virar ação, criei um alerta semanal. Ele mostra só o que mudou desde a semana anterior, para o time não receber a mesma lista toda vez.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primeiro passo foi definir quem é cliente perdido. Olhei por CPF, não por contrato, e tirei quem ainda tem algum contrato aberto. Sobram 322 clientes, que somam quase 147 mil reais de MRR.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 segmentar, quis saber se reativar é viável. A resposta é sim: 16% voltam sozinhos em um ano e mais da metade em quatro anos. E a curva não achata, então não faz sentido descartar quem cancelou há mais tempo.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dinheiro está muito concentrado. Business e Enterprise são pouco mais de um terço dos clientes perdidos, mas quase três quartos do MRR. Isso define quem recebe contato humano.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segmentação combina valor e chance de retorno. O segmento 1 recebe contato consultivo do CS. O 2 tem os motivos que mais voltam. O 3 saiu por preço e, sem incentivo, tende a não voltar. O 4 vai para uma régua automática. Se o time só conseguir fazer o segmento 1, já cobre 72% do dinheiro em jogo.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fechar, seis recomendações. As três primeiras são de retenção: acompanhar o churn com meta, cuidar do primeiro ano e usar a lista semanal de risco. A quarta é a inadimplência. A quinta é a campanha de reativação, começando pelo segmento de alto valor. E a última é entender a perda para a concorrência, que é o principal motivo de saída.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03120"/>
            <a:ext cx="10515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29000"/>
            <a:ext cx="10515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rgbClr val="CDE2FB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5760720"/>
            <a:ext cx="10515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rgbClr val="CDE2FB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Fonte: BigQuery, camadas silver e gold | dados de jan/2021 a set/2026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CHAMENTO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031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Retenção e churn da carteira de clientes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290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DE2FB"/>
                </a:solidFill>
              </a:rPr>
              <a:t>Da estrutura dos dados à segmentação para reativação</a:t>
            </a:r>
            <a:endParaRPr lang="en-US" sz="2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5760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DE2FB"/>
                </a:solidFill>
              </a:rPr>
              <a:t>Ricardo Wolf  |  Case Analista de Dados Sr  |  Outubro de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Roteiro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Do dado bruto à recomendação</a:t>
            </a:r>
            <a:endParaRPr lang="en-US" sz="3000" dirty="0"/>
          </a:p>
        </p:txBody>
      </p:sp>
      <p:sp>
        <p:nvSpPr>
          <p:cNvPr id="4" name="agenda 0 fundo"/>
          <p:cNvSpPr/>
          <p:nvPr/>
        </p:nvSpPr>
        <p:spPr>
          <a:xfrm>
            <a:off x="548640" y="1645920"/>
            <a:ext cx="2036003" cy="2468880"/>
          </a:xfrm>
          <a:prstGeom prst="roundRect">
            <a:avLst>
              <a:gd name="adj" fmla="val 3593"/>
            </a:avLst>
          </a:prstGeom>
          <a:solidFill>
            <a:schemeClr val="bg2"/>
          </a:solidFill>
          <a:ln/>
        </p:spPr>
      </p:sp>
      <p:sp>
        <p:nvSpPr>
          <p:cNvPr id="5" name="agenda 0 numero"/>
          <p:cNvSpPr txBox="1"/>
          <p:nvPr/>
        </p:nvSpPr>
        <p:spPr>
          <a:xfrm>
            <a:off x="822960" y="18288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agenda 0 texto"/>
          <p:cNvSpPr txBox="1"/>
          <p:nvPr/>
        </p:nvSpPr>
        <p:spPr>
          <a:xfrm>
            <a:off x="822960" y="2423160"/>
            <a:ext cx="1487363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Dados e estrutura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Como a base foi organizada no BigQuery</a:t>
            </a:r>
            <a:endParaRPr lang="en-US" sz="1800" dirty="0"/>
          </a:p>
        </p:txBody>
      </p:sp>
      <p:sp>
        <p:nvSpPr>
          <p:cNvPr id="7" name="agenda 1 fundo"/>
          <p:cNvSpPr/>
          <p:nvPr/>
        </p:nvSpPr>
        <p:spPr>
          <a:xfrm>
            <a:off x="2813243" y="1645920"/>
            <a:ext cx="2036003" cy="2468880"/>
          </a:xfrm>
          <a:prstGeom prst="roundRect">
            <a:avLst>
              <a:gd name="adj" fmla="val 3593"/>
            </a:avLst>
          </a:prstGeom>
          <a:solidFill>
            <a:schemeClr val="bg2"/>
          </a:solidFill>
          <a:ln/>
        </p:spPr>
      </p:sp>
      <p:sp>
        <p:nvSpPr>
          <p:cNvPr id="8" name="agenda 1 numero"/>
          <p:cNvSpPr txBox="1"/>
          <p:nvPr/>
        </p:nvSpPr>
        <p:spPr>
          <a:xfrm>
            <a:off x="3087563" y="18288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agenda 1 texto"/>
          <p:cNvSpPr txBox="1"/>
          <p:nvPr/>
        </p:nvSpPr>
        <p:spPr>
          <a:xfrm>
            <a:off x="3087563" y="2423160"/>
            <a:ext cx="1487363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Qualidade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O que foi encontrado, tratado e conferido</a:t>
            </a:r>
            <a:endParaRPr lang="en-US" sz="1800" dirty="0"/>
          </a:p>
        </p:txBody>
      </p:sp>
      <p:sp>
        <p:nvSpPr>
          <p:cNvPr id="10" name="agenda 2 fundo"/>
          <p:cNvSpPr/>
          <p:nvPr/>
        </p:nvSpPr>
        <p:spPr>
          <a:xfrm>
            <a:off x="5077846" y="1645920"/>
            <a:ext cx="2036003" cy="2468880"/>
          </a:xfrm>
          <a:prstGeom prst="roundRect">
            <a:avLst>
              <a:gd name="adj" fmla="val 3593"/>
            </a:avLst>
          </a:prstGeom>
          <a:solidFill>
            <a:schemeClr val="bg2"/>
          </a:solidFill>
          <a:ln/>
        </p:spPr>
      </p:sp>
      <p:sp>
        <p:nvSpPr>
          <p:cNvPr id="11" name="agenda 2 numero"/>
          <p:cNvSpPr txBox="1"/>
          <p:nvPr/>
        </p:nvSpPr>
        <p:spPr>
          <a:xfrm>
            <a:off x="5352166" y="18288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agenda 2 texto"/>
          <p:cNvSpPr txBox="1"/>
          <p:nvPr/>
        </p:nvSpPr>
        <p:spPr>
          <a:xfrm>
            <a:off x="5352166" y="2423160"/>
            <a:ext cx="1487363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Indicadores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KPIs para acompanhar a carteira</a:t>
            </a:r>
            <a:endParaRPr lang="en-US" sz="1800" dirty="0"/>
          </a:p>
        </p:txBody>
      </p:sp>
      <p:sp>
        <p:nvSpPr>
          <p:cNvPr id="13" name="agenda 3 fundo"/>
          <p:cNvSpPr/>
          <p:nvPr/>
        </p:nvSpPr>
        <p:spPr>
          <a:xfrm>
            <a:off x="7342449" y="1645920"/>
            <a:ext cx="2036003" cy="2468880"/>
          </a:xfrm>
          <a:prstGeom prst="roundRect">
            <a:avLst>
              <a:gd name="adj" fmla="val 3593"/>
            </a:avLst>
          </a:prstGeom>
          <a:solidFill>
            <a:schemeClr val="bg2"/>
          </a:solidFill>
          <a:ln/>
        </p:spPr>
      </p:sp>
      <p:sp>
        <p:nvSpPr>
          <p:cNvPr id="14" name="agenda 3 numero"/>
          <p:cNvSpPr txBox="1"/>
          <p:nvPr/>
        </p:nvSpPr>
        <p:spPr>
          <a:xfrm>
            <a:off x="7616769" y="18288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agenda 3 texto"/>
          <p:cNvSpPr txBox="1"/>
          <p:nvPr/>
        </p:nvSpPr>
        <p:spPr>
          <a:xfrm>
            <a:off x="7616769" y="2423160"/>
            <a:ext cx="1487363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Churn e risco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Quem cancela, quando, e o modelo de risco</a:t>
            </a:r>
            <a:endParaRPr lang="en-US" sz="1800" dirty="0"/>
          </a:p>
        </p:txBody>
      </p:sp>
      <p:sp>
        <p:nvSpPr>
          <p:cNvPr id="16" name="agenda 4 fundo"/>
          <p:cNvSpPr/>
          <p:nvPr/>
        </p:nvSpPr>
        <p:spPr>
          <a:xfrm>
            <a:off x="9607052" y="1645920"/>
            <a:ext cx="2036003" cy="2468880"/>
          </a:xfrm>
          <a:prstGeom prst="roundRect">
            <a:avLst>
              <a:gd name="adj" fmla="val 3593"/>
            </a:avLst>
          </a:prstGeom>
          <a:solidFill>
            <a:schemeClr val="bg2"/>
          </a:solidFill>
          <a:ln/>
        </p:spPr>
      </p:sp>
      <p:sp>
        <p:nvSpPr>
          <p:cNvPr id="17" name="agenda 4 numero"/>
          <p:cNvSpPr txBox="1"/>
          <p:nvPr/>
        </p:nvSpPr>
        <p:spPr>
          <a:xfrm>
            <a:off x="9881372" y="18288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5</a:t>
            </a:r>
            <a:endParaRPr lang="en-US" sz="3000" dirty="0"/>
          </a:p>
        </p:txBody>
      </p:sp>
      <p:sp>
        <p:nvSpPr>
          <p:cNvPr id="18" name="agenda 4 texto"/>
          <p:cNvSpPr txBox="1"/>
          <p:nvPr/>
        </p:nvSpPr>
        <p:spPr>
          <a:xfrm>
            <a:off x="9881372" y="2423160"/>
            <a:ext cx="1487363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Reativação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Quem priorizar na campanha</a:t>
            </a:r>
            <a:endParaRPr lang="en-US" sz="1800" dirty="0"/>
          </a:p>
        </p:txBody>
      </p:sp>
      <p:sp>
        <p:nvSpPr>
          <p:cNvPr id="19" name="agenda fechamento"/>
          <p:cNvSpPr txBox="1"/>
          <p:nvPr/>
        </p:nvSpPr>
        <p:spPr>
          <a:xfrm>
            <a:off x="548640" y="44805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No final: recomendações para a área de CX.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1  |  Dados e estrutura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 base foi organizada em três camadas no BigQuery</a:t>
            </a:r>
            <a:endParaRPr lang="en-US" sz="3000" dirty="0"/>
          </a:p>
        </p:txBody>
      </p:sp>
      <p:sp>
        <p:nvSpPr>
          <p:cNvPr id="4" name="camada 0"/>
          <p:cNvSpPr/>
          <p:nvPr/>
        </p:nvSpPr>
        <p:spPr>
          <a:xfrm>
            <a:off x="548640" y="1554480"/>
            <a:ext cx="2430704" cy="219456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12700">
            <a:solidFill>
              <a:srgbClr val="BFC3C8"/>
            </a:solidFill>
            <a:prstDash val="solid"/>
          </a:ln>
        </p:spPr>
      </p:sp>
      <p:sp>
        <p:nvSpPr>
          <p:cNvPr id="5" name="texto camada 0"/>
          <p:cNvSpPr txBox="1"/>
          <p:nvPr/>
        </p:nvSpPr>
        <p:spPr>
          <a:xfrm>
            <a:off x="713232" y="1783080"/>
            <a:ext cx="2101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Google Sheets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origem: arquivo do case</a:t>
            </a:r>
            <a:endParaRPr lang="en-US" sz="20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abas clientes e planos</a:t>
            </a:r>
            <a:endParaRPr lang="en-US" sz="2000" dirty="0"/>
          </a:p>
        </p:txBody>
      </p:sp>
      <p:sp>
        <p:nvSpPr>
          <p:cNvPr id="6" name="seta camada 0"/>
          <p:cNvSpPr/>
          <p:nvPr/>
        </p:nvSpPr>
        <p:spPr>
          <a:xfrm>
            <a:off x="3052496" y="2514600"/>
            <a:ext cx="310896" cy="27432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7" name="camada 1"/>
          <p:cNvSpPr/>
          <p:nvPr/>
        </p:nvSpPr>
        <p:spPr>
          <a:xfrm>
            <a:off x="3436544" y="1554480"/>
            <a:ext cx="2430704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8" name="texto camada 1"/>
          <p:cNvSpPr txBox="1"/>
          <p:nvPr/>
        </p:nvSpPr>
        <p:spPr>
          <a:xfrm>
            <a:off x="3601136" y="1783080"/>
            <a:ext cx="2101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Bronze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cópia da origem com data de carga</a:t>
            </a:r>
            <a:endParaRPr lang="en-US" sz="20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clientes</a:t>
            </a:r>
            <a:endParaRPr lang="en-US" sz="20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planos</a:t>
            </a:r>
            <a:endParaRPr lang="en-US" sz="2000" dirty="0"/>
          </a:p>
        </p:txBody>
      </p:sp>
      <p:sp>
        <p:nvSpPr>
          <p:cNvPr id="9" name="seta camada 1"/>
          <p:cNvSpPr/>
          <p:nvPr/>
        </p:nvSpPr>
        <p:spPr>
          <a:xfrm>
            <a:off x="5940400" y="2514600"/>
            <a:ext cx="310896" cy="27432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0" name="camada 2"/>
          <p:cNvSpPr/>
          <p:nvPr/>
        </p:nvSpPr>
        <p:spPr>
          <a:xfrm>
            <a:off x="6324448" y="1554480"/>
            <a:ext cx="2430704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11" name="texto camada 2"/>
          <p:cNvSpPr txBox="1"/>
          <p:nvPr/>
        </p:nvSpPr>
        <p:spPr>
          <a:xfrm>
            <a:off x="6489040" y="1783080"/>
            <a:ext cx="2101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Silver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dados tratados e tipados</a:t>
            </a:r>
            <a:endParaRPr lang="en-US" sz="20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vw_contratos</a:t>
            </a:r>
            <a:endParaRPr lang="en-US" sz="20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vw_planos</a:t>
            </a:r>
            <a:endParaRPr lang="en-US" sz="2000" dirty="0"/>
          </a:p>
        </p:txBody>
      </p:sp>
      <p:sp>
        <p:nvSpPr>
          <p:cNvPr id="12" name="seta camada 2"/>
          <p:cNvSpPr/>
          <p:nvPr/>
        </p:nvSpPr>
        <p:spPr>
          <a:xfrm>
            <a:off x="8828303" y="2514600"/>
            <a:ext cx="310896" cy="27432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3" name="camada 3"/>
          <p:cNvSpPr/>
          <p:nvPr/>
        </p:nvSpPr>
        <p:spPr>
          <a:xfrm>
            <a:off x="9212351" y="1554480"/>
            <a:ext cx="2430704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14" name="texto camada 3"/>
          <p:cNvSpPr txBox="1"/>
          <p:nvPr/>
        </p:nvSpPr>
        <p:spPr>
          <a:xfrm>
            <a:off x="9376943" y="1783080"/>
            <a:ext cx="2101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Gold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pronto para consumo</a:t>
            </a:r>
            <a:endParaRPr lang="en-US" sz="20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score_churn</a:t>
            </a:r>
            <a:endParaRPr lang="en-US" sz="20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vw_base_reativacao</a:t>
            </a:r>
            <a:endParaRPr lang="en-US" sz="20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vw_segmentacao_reativacao</a:t>
            </a:r>
            <a:endParaRPr lang="en-US" sz="2000" dirty="0"/>
          </a:p>
        </p:txBody>
      </p:sp>
      <p:sp>
        <p:nvSpPr>
          <p:cNvPr id="15" name="lista camadas"/>
          <p:cNvSpPr txBox="1"/>
          <p:nvPr/>
        </p:nvSpPr>
        <p:spPr>
          <a:xfrm>
            <a:off x="548640" y="4160520"/>
            <a:ext cx="110944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bronze guarda a fotografia da origem: se a planilha mudar, o que já foi carregado não muda.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Silver e gold são views: refletem sempre a última carga, sem passo manual.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Todo o tratamento está em SQL versionado no repositório, então qualquer pessoa consegue refazer o caminho.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1  |  Dados e estrutura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Cada linha é um contrato, ligado a um plano</a:t>
            </a:r>
            <a:endParaRPr lang="en-US" sz="3000" dirty="0"/>
          </a:p>
        </p:txBody>
      </p:sp>
      <p:sp>
        <p:nvSpPr>
          <p:cNvPr id="4" name="erd planos fundo"/>
          <p:cNvSpPr/>
          <p:nvPr/>
        </p:nvSpPr>
        <p:spPr>
          <a:xfrm>
            <a:off x="548640" y="1600200"/>
            <a:ext cx="3383280" cy="233172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5" name="erd planos cabecalho"/>
          <p:cNvSpPr/>
          <p:nvPr/>
        </p:nvSpPr>
        <p:spPr>
          <a:xfrm>
            <a:off x="548640" y="1600200"/>
            <a:ext cx="3383280" cy="4572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6" name="erd planos nome"/>
          <p:cNvSpPr txBox="1"/>
          <p:nvPr/>
        </p:nvSpPr>
        <p:spPr>
          <a:xfrm>
            <a:off x="731520" y="1600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vw_planos</a:t>
            </a:r>
            <a:endParaRPr lang="en-US" sz="1600" dirty="0"/>
          </a:p>
        </p:txBody>
      </p:sp>
      <p:sp>
        <p:nvSpPr>
          <p:cNvPr id="7" name="erd planos campos"/>
          <p:cNvSpPr txBox="1"/>
          <p:nvPr/>
        </p:nvSpPr>
        <p:spPr>
          <a:xfrm>
            <a:off x="731520" y="214884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400" b="1" dirty="0">
                <a:solidFill>
                  <a:schemeClr val="tx1"/>
                </a:solidFill>
              </a:rPr>
              <a:t>id_plano  (chave)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nome_plano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linha_produto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mrr_mensal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valor_contrato_anual</a:t>
            </a:r>
            <a:endParaRPr lang="en-US" sz="1400" dirty="0"/>
          </a:p>
        </p:txBody>
      </p:sp>
      <p:sp>
        <p:nvSpPr>
          <p:cNvPr id="8" name="erd contratos fundo"/>
          <p:cNvSpPr/>
          <p:nvPr/>
        </p:nvSpPr>
        <p:spPr>
          <a:xfrm>
            <a:off x="5486400" y="1600200"/>
            <a:ext cx="6156655" cy="3319272"/>
          </a:xfrm>
          <a:prstGeom prst="roundRect">
            <a:avLst>
              <a:gd name="adj" fmla="val 1653"/>
            </a:avLst>
          </a:prstGeom>
          <a:solidFill>
            <a:schemeClr val="bg2"/>
          </a:solidFill>
          <a:ln/>
        </p:spPr>
      </p:sp>
      <p:sp>
        <p:nvSpPr>
          <p:cNvPr id="9" name="erd contratos cabecalho"/>
          <p:cNvSpPr/>
          <p:nvPr/>
        </p:nvSpPr>
        <p:spPr>
          <a:xfrm>
            <a:off x="5486400" y="1600200"/>
            <a:ext cx="6156655" cy="4572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0" name="erd contratos nome"/>
          <p:cNvSpPr txBox="1"/>
          <p:nvPr/>
        </p:nvSpPr>
        <p:spPr>
          <a:xfrm>
            <a:off x="5669280" y="1600200"/>
            <a:ext cx="5790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vw_contratos</a:t>
            </a:r>
            <a:endParaRPr lang="en-US" sz="1600" dirty="0"/>
          </a:p>
        </p:txBody>
      </p:sp>
      <p:sp>
        <p:nvSpPr>
          <p:cNvPr id="11" name="erd contratos campos 0"/>
          <p:cNvSpPr txBox="1"/>
          <p:nvPr/>
        </p:nvSpPr>
        <p:spPr>
          <a:xfrm>
            <a:off x="5669280" y="2148840"/>
            <a:ext cx="2895448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400" b="1" dirty="0">
                <a:solidFill>
                  <a:schemeClr val="tx1"/>
                </a:solidFill>
              </a:rPr>
              <a:t>id_contrato  (chave)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b="1" dirty="0">
                <a:solidFill>
                  <a:schemeClr val="tx1"/>
                </a:solidFill>
              </a:rPr>
              <a:t>id_plano  (liga ao plano)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cpf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uf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periodicidade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status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tipo_cancelamento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cupons_total</a:t>
            </a:r>
            <a:endParaRPr lang="en-US" sz="1400" dirty="0"/>
          </a:p>
        </p:txBody>
      </p:sp>
      <p:sp>
        <p:nvSpPr>
          <p:cNvPr id="12" name="erd contratos campos 1"/>
          <p:cNvSpPr txBox="1"/>
          <p:nvPr/>
        </p:nvSpPr>
        <p:spPr>
          <a:xfrm>
            <a:off x="8656168" y="2148840"/>
            <a:ext cx="2895448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data_inicio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data_cancelamento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data_fim_vigencia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tempo_vida_meses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flag_cancelado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flag_em_aberto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flag_cpf_corrigido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flag_sobreposicao_mesmo_plano</a:t>
            </a:r>
            <a:endParaRPr lang="en-US" sz="1400" dirty="0"/>
          </a:p>
        </p:txBody>
      </p:sp>
      <p:sp>
        <p:nvSpPr>
          <p:cNvPr id="13" name="erd ligacao"/>
          <p:cNvSpPr/>
          <p:nvPr/>
        </p:nvSpPr>
        <p:spPr>
          <a:xfrm>
            <a:off x="3931920" y="1828800"/>
            <a:ext cx="155448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4" name="erd card 1"/>
          <p:cNvSpPr txBox="1"/>
          <p:nvPr/>
        </p:nvSpPr>
        <p:spPr>
          <a:xfrm>
            <a:off x="4005072" y="1508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15" name="erd card n"/>
          <p:cNvSpPr txBox="1"/>
          <p:nvPr/>
        </p:nvSpPr>
        <p:spPr>
          <a:xfrm>
            <a:off x="5193792" y="1508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</a:t>
            </a:r>
            <a:endParaRPr lang="en-US" sz="1400" dirty="0"/>
          </a:p>
        </p:txBody>
      </p:sp>
      <p:sp>
        <p:nvSpPr>
          <p:cNvPr id="16" name="erd legenda"/>
          <p:cNvSpPr txBox="1"/>
          <p:nvPr/>
        </p:nvSpPr>
        <p:spPr>
          <a:xfrm>
            <a:off x="3931920" y="1920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1 plano tem N contratos</a:t>
            </a:r>
            <a:endParaRPr lang="en-US" sz="1200" dirty="0"/>
          </a:p>
        </p:txBody>
      </p:sp>
      <p:sp>
        <p:nvSpPr>
          <p:cNvPr id="17" name="erd cliente"/>
          <p:cNvSpPr txBox="1"/>
          <p:nvPr/>
        </p:nvSpPr>
        <p:spPr>
          <a:xfrm>
            <a:off x="548640" y="416052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Cliente = CPF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750 clientes têm 1.000 contratos. Um CPF pode ter vários contratos, mas não o mesmo plano ativo duas vezes.</a:t>
            </a:r>
            <a:endParaRPr lang="en-US" sz="1600" dirty="0"/>
          </a:p>
        </p:txBody>
      </p:sp>
      <p:sp>
        <p:nvSpPr>
          <p:cNvPr id="18" name="nota erd"/>
          <p:cNvSpPr txBox="1"/>
          <p:nvPr/>
        </p:nvSpPr>
        <p:spPr>
          <a:xfrm>
            <a:off x="548640" y="58064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Na silver foram criados campos que não existiam na origem: data de fim da vigência, tempo de vida e as flags de qualidade.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1  |  Dados e estrutura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Base analisada</a:t>
            </a:r>
            <a:endParaRPr lang="en-US" sz="3000" dirty="0"/>
          </a:p>
        </p:txBody>
      </p:sp>
      <p:sp>
        <p:nvSpPr>
          <p:cNvPr id="4" name="base 0 fundo"/>
          <p:cNvSpPr/>
          <p:nvPr/>
        </p:nvSpPr>
        <p:spPr>
          <a:xfrm>
            <a:off x="548640" y="1508760"/>
            <a:ext cx="2567864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5" name="base 0 numero"/>
          <p:cNvSpPr txBox="1"/>
          <p:nvPr/>
        </p:nvSpPr>
        <p:spPr>
          <a:xfrm>
            <a:off x="822960" y="1737360"/>
            <a:ext cx="2019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1.000</a:t>
            </a:r>
            <a:endParaRPr lang="en-US" sz="3600" dirty="0"/>
          </a:p>
        </p:txBody>
      </p:sp>
      <p:sp>
        <p:nvSpPr>
          <p:cNvPr id="6" name="base 0 rotulo"/>
          <p:cNvSpPr txBox="1"/>
          <p:nvPr/>
        </p:nvSpPr>
        <p:spPr>
          <a:xfrm>
            <a:off x="822960" y="2468880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contratos</a:t>
            </a:r>
            <a:endParaRPr lang="en-US" sz="1600" dirty="0"/>
          </a:p>
        </p:txBody>
      </p:sp>
      <p:sp>
        <p:nvSpPr>
          <p:cNvPr id="7" name="base 0 detalhe"/>
          <p:cNvSpPr txBox="1"/>
          <p:nvPr/>
        </p:nvSpPr>
        <p:spPr>
          <a:xfrm>
            <a:off x="822960" y="2834640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1 linha = 1 contrato</a:t>
            </a:r>
            <a:endParaRPr lang="en-US" sz="1300" dirty="0"/>
          </a:p>
        </p:txBody>
      </p:sp>
      <p:sp>
        <p:nvSpPr>
          <p:cNvPr id="8" name="base 1 fundo"/>
          <p:cNvSpPr/>
          <p:nvPr/>
        </p:nvSpPr>
        <p:spPr>
          <a:xfrm>
            <a:off x="3390824" y="1508760"/>
            <a:ext cx="2567864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9" name="base 1 numero"/>
          <p:cNvSpPr txBox="1"/>
          <p:nvPr/>
        </p:nvSpPr>
        <p:spPr>
          <a:xfrm>
            <a:off x="3665144" y="1737360"/>
            <a:ext cx="2019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750</a:t>
            </a:r>
            <a:endParaRPr lang="en-US" sz="3600" dirty="0"/>
          </a:p>
        </p:txBody>
      </p:sp>
      <p:sp>
        <p:nvSpPr>
          <p:cNvPr id="10" name="base 1 rotulo"/>
          <p:cNvSpPr txBox="1"/>
          <p:nvPr/>
        </p:nvSpPr>
        <p:spPr>
          <a:xfrm>
            <a:off x="3665144" y="2468880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clientes únicos</a:t>
            </a:r>
            <a:endParaRPr lang="en-US" sz="1600" dirty="0"/>
          </a:p>
        </p:txBody>
      </p:sp>
      <p:sp>
        <p:nvSpPr>
          <p:cNvPr id="11" name="base 1 detalhe"/>
          <p:cNvSpPr txBox="1"/>
          <p:nvPr/>
        </p:nvSpPr>
        <p:spPr>
          <a:xfrm>
            <a:off x="3665144" y="2834640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identificados pelo CPF</a:t>
            </a:r>
            <a:endParaRPr lang="en-US" sz="1300" dirty="0"/>
          </a:p>
        </p:txBody>
      </p:sp>
      <p:sp>
        <p:nvSpPr>
          <p:cNvPr id="12" name="base 2 fundo"/>
          <p:cNvSpPr/>
          <p:nvPr/>
        </p:nvSpPr>
        <p:spPr>
          <a:xfrm>
            <a:off x="6233008" y="1508760"/>
            <a:ext cx="2567864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3" name="base 2 numero"/>
          <p:cNvSpPr txBox="1"/>
          <p:nvPr/>
        </p:nvSpPr>
        <p:spPr>
          <a:xfrm>
            <a:off x="6507328" y="1737360"/>
            <a:ext cx="2019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5</a:t>
            </a:r>
            <a:endParaRPr lang="en-US" sz="3600" dirty="0"/>
          </a:p>
        </p:txBody>
      </p:sp>
      <p:sp>
        <p:nvSpPr>
          <p:cNvPr id="14" name="base 2 rotulo"/>
          <p:cNvSpPr txBox="1"/>
          <p:nvPr/>
        </p:nvSpPr>
        <p:spPr>
          <a:xfrm>
            <a:off x="6507328" y="2468880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planos</a:t>
            </a:r>
            <a:endParaRPr lang="en-US" sz="1600" dirty="0"/>
          </a:p>
        </p:txBody>
      </p:sp>
      <p:sp>
        <p:nvSpPr>
          <p:cNvPr id="15" name="base 2 detalhe"/>
          <p:cNvSpPr txBox="1"/>
          <p:nvPr/>
        </p:nvSpPr>
        <p:spPr>
          <a:xfrm>
            <a:off x="6507328" y="2834640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linhas Astrea e Themis</a:t>
            </a:r>
            <a:endParaRPr lang="en-US" sz="1300" dirty="0"/>
          </a:p>
        </p:txBody>
      </p:sp>
      <p:sp>
        <p:nvSpPr>
          <p:cNvPr id="16" name="base 3 fundo"/>
          <p:cNvSpPr/>
          <p:nvPr/>
        </p:nvSpPr>
        <p:spPr>
          <a:xfrm>
            <a:off x="9075191" y="1508760"/>
            <a:ext cx="2567864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7" name="base 3 numero"/>
          <p:cNvSpPr txBox="1"/>
          <p:nvPr/>
        </p:nvSpPr>
        <p:spPr>
          <a:xfrm>
            <a:off x="9349511" y="1737360"/>
            <a:ext cx="2019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69</a:t>
            </a:r>
            <a:endParaRPr lang="en-US" sz="3600" dirty="0"/>
          </a:p>
        </p:txBody>
      </p:sp>
      <p:sp>
        <p:nvSpPr>
          <p:cNvPr id="18" name="base 3 rotulo"/>
          <p:cNvSpPr txBox="1"/>
          <p:nvPr/>
        </p:nvSpPr>
        <p:spPr>
          <a:xfrm>
            <a:off x="9349511" y="2468880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meses de histórico</a:t>
            </a:r>
            <a:endParaRPr lang="en-US" sz="1600" dirty="0"/>
          </a:p>
        </p:txBody>
      </p:sp>
      <p:sp>
        <p:nvSpPr>
          <p:cNvPr id="19" name="base 3 detalhe"/>
          <p:cNvSpPr txBox="1"/>
          <p:nvPr/>
        </p:nvSpPr>
        <p:spPr>
          <a:xfrm>
            <a:off x="9349511" y="2834640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jan/2021 a set/2026</a:t>
            </a:r>
            <a:endParaRPr lang="en-US" sz="1300" dirty="0"/>
          </a:p>
        </p:txBody>
      </p:sp>
      <p:sp>
        <p:nvSpPr>
          <p:cNvPr id="20" name="subtitulo leitura"/>
          <p:cNvSpPr txBox="1"/>
          <p:nvPr/>
        </p:nvSpPr>
        <p:spPr>
          <a:xfrm>
            <a:off x="548640" y="3703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Como ler os números</a:t>
            </a:r>
            <a:endParaRPr lang="en-US" sz="1800" dirty="0"/>
          </a:p>
        </p:txBody>
      </p:sp>
      <p:sp>
        <p:nvSpPr>
          <p:cNvPr id="21" name="lista leitura"/>
          <p:cNvSpPr txBox="1"/>
          <p:nvPr/>
        </p:nvSpPr>
        <p:spPr>
          <a:xfrm>
            <a:off x="548640" y="4114800"/>
            <a:ext cx="1109441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Um cliente pode ter mais de um contrato. Por isso os KPIs são calculados por contrato e, quando faz sentido, por CPF.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MRR é a mensalidade de tabela do plano. A base não traz o valor efetivamente pago.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Contrato sem data de cancelamento é vigente: inclui os status Ativo e Inadimplente.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Todos os números a seguir já usam a base tratada, mostrada na parte 2.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2  |  Qualidade dos dados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Seis problemas encontrados e o que foi feito com cada um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4415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2286000"/>
                <a:gridCol w="368503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Problema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Tamanho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Tratamento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CPF sem os zeros à esquerda, já no arquivo original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104 registros (80 CPFs)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Completado até 11 dígitos e marcado com flag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Mesmo plano ativo duas vezes no mesmo CPF, contra a regra do negócio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11 pares de contratos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Mantidos e marcados com flag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Datas, valores e IDs gravados como texto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Todas as colunas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Tipagem na camada silver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Cancelamento por "Migração" sem contrato novo logo depois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79 de 87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Sinalizado para o negócio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Plano anual cancelado antes de completar 12 meses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67 de 111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Sinalizado para o negócio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Sem valor efetivamente pago e sem dados de uso do produto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Toda a base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Limitação declarada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nota qualidade"/>
          <p:cNvSpPr txBox="1"/>
          <p:nvPr/>
        </p:nvSpPr>
        <p:spPr>
          <a:xfrm>
            <a:off x="548640" y="56692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Checados e sem problema: api_key única, datas coerentes (nenhum cancelamento antes do início), status coerente com o motivo, sem linhas duplicadas e sem plano inexistente.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2  |  Qualidade dos dados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 silver confere com a bronze em todas as checagens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4415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2194560"/>
                <a:gridCol w="2194560"/>
                <a:gridCol w="194767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Checagem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Bronze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Silver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Resultado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Quantidade de linhas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1.000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1.000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Confere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Soma de cupons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R$ 426.325,04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R$ 426.325,04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Confere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Contratos Ativo / Cancelado / Inadimplente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363 / 572 / 65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363 / 572 / 65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Confere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Datas de cancelamento vazias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428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428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Confere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CPFs fora do padrão de 11 dígitos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104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Corrigido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Contratos com plano inexistente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Confere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Status incoerente com a data de cancelamento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Confere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nota conferencia"/>
          <p:cNvSpPr txBox="1"/>
          <p:nvPr/>
        </p:nvSpPr>
        <p:spPr>
          <a:xfrm>
            <a:off x="548640" y="56692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A proposta é rodar essas checagens a cada nova carga, antes de atualizar painel e alertas. Se algum número não bater, a atualização para.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3  |  Indicadores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Fotografia atual da carteira</a:t>
            </a:r>
            <a:endParaRPr lang="en-US" sz="3000" dirty="0"/>
          </a:p>
        </p:txBody>
      </p:sp>
      <p:sp>
        <p:nvSpPr>
          <p:cNvPr id="4" name="kpi 0 fundo"/>
          <p:cNvSpPr/>
          <p:nvPr/>
        </p:nvSpPr>
        <p:spPr>
          <a:xfrm>
            <a:off x="548640" y="1463040"/>
            <a:ext cx="3515258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/>
        </p:spPr>
      </p:sp>
      <p:sp>
        <p:nvSpPr>
          <p:cNvPr id="5" name="kpi 0 numero"/>
          <p:cNvSpPr txBox="1"/>
          <p:nvPr/>
        </p:nvSpPr>
        <p:spPr>
          <a:xfrm>
            <a:off x="822960" y="169164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428</a:t>
            </a:r>
            <a:endParaRPr lang="en-US" sz="3600" dirty="0"/>
          </a:p>
        </p:txBody>
      </p:sp>
      <p:sp>
        <p:nvSpPr>
          <p:cNvPr id="6" name="kpi 0 rotulo"/>
          <p:cNvSpPr txBox="1"/>
          <p:nvPr/>
        </p:nvSpPr>
        <p:spPr>
          <a:xfrm>
            <a:off x="822960" y="242316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contratos vigentes</a:t>
            </a:r>
            <a:endParaRPr lang="en-US" sz="1600" dirty="0"/>
          </a:p>
        </p:txBody>
      </p:sp>
      <p:sp>
        <p:nvSpPr>
          <p:cNvPr id="7" name="kpi 0 detalhe"/>
          <p:cNvSpPr txBox="1"/>
          <p:nvPr/>
        </p:nvSpPr>
        <p:spPr>
          <a:xfrm>
            <a:off x="822960" y="278892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363 ativos e 65 inadimplentes</a:t>
            </a:r>
            <a:endParaRPr lang="en-US" sz="1300" dirty="0"/>
          </a:p>
        </p:txBody>
      </p:sp>
      <p:sp>
        <p:nvSpPr>
          <p:cNvPr id="8" name="kpi 1 fundo"/>
          <p:cNvSpPr/>
          <p:nvPr/>
        </p:nvSpPr>
        <p:spPr>
          <a:xfrm>
            <a:off x="4338218" y="1463040"/>
            <a:ext cx="3515258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/>
        </p:spPr>
      </p:sp>
      <p:sp>
        <p:nvSpPr>
          <p:cNvPr id="9" name="kpi 1 numero"/>
          <p:cNvSpPr txBox="1"/>
          <p:nvPr/>
        </p:nvSpPr>
        <p:spPr>
          <a:xfrm>
            <a:off x="4612538" y="169164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R$ 200,9 mil</a:t>
            </a:r>
            <a:endParaRPr lang="en-US" sz="3600" dirty="0"/>
          </a:p>
        </p:txBody>
      </p:sp>
      <p:sp>
        <p:nvSpPr>
          <p:cNvPr id="10" name="kpi 1 rotulo"/>
          <p:cNvSpPr txBox="1"/>
          <p:nvPr/>
        </p:nvSpPr>
        <p:spPr>
          <a:xfrm>
            <a:off x="4612538" y="242316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MRR vigente</a:t>
            </a:r>
            <a:endParaRPr lang="en-US" sz="1600" dirty="0"/>
          </a:p>
        </p:txBody>
      </p:sp>
      <p:sp>
        <p:nvSpPr>
          <p:cNvPr id="11" name="kpi 1 detalhe"/>
          <p:cNvSpPr txBox="1"/>
          <p:nvPr/>
        </p:nvSpPr>
        <p:spPr>
          <a:xfrm>
            <a:off x="4612538" y="278892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R$ 169,9 mil vêm de contratos ativos</a:t>
            </a:r>
            <a:endParaRPr lang="en-US" sz="1300" dirty="0"/>
          </a:p>
        </p:txBody>
      </p:sp>
      <p:sp>
        <p:nvSpPr>
          <p:cNvPr id="12" name="kpi 2 fundo"/>
          <p:cNvSpPr/>
          <p:nvPr/>
        </p:nvSpPr>
        <p:spPr>
          <a:xfrm>
            <a:off x="8127797" y="1463040"/>
            <a:ext cx="3515258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/>
        </p:spPr>
      </p:sp>
      <p:sp>
        <p:nvSpPr>
          <p:cNvPr id="13" name="kpi 2 numero"/>
          <p:cNvSpPr txBox="1"/>
          <p:nvPr/>
        </p:nvSpPr>
        <p:spPr>
          <a:xfrm>
            <a:off x="8402117" y="169164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15,2%</a:t>
            </a:r>
            <a:endParaRPr lang="en-US" sz="3600" dirty="0"/>
          </a:p>
        </p:txBody>
      </p:sp>
      <p:sp>
        <p:nvSpPr>
          <p:cNvPr id="14" name="kpi 2 rotulo"/>
          <p:cNvSpPr txBox="1"/>
          <p:nvPr/>
        </p:nvSpPr>
        <p:spPr>
          <a:xfrm>
            <a:off x="8402117" y="242316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 inadimplência</a:t>
            </a:r>
            <a:endParaRPr lang="en-US" sz="1600" dirty="0"/>
          </a:p>
        </p:txBody>
      </p:sp>
      <p:sp>
        <p:nvSpPr>
          <p:cNvPr id="15" name="kpi 2 detalhe"/>
          <p:cNvSpPr txBox="1"/>
          <p:nvPr/>
        </p:nvSpPr>
        <p:spPr>
          <a:xfrm>
            <a:off x="8402117" y="278892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R$ 31,0 mil de MRR em risco</a:t>
            </a:r>
            <a:endParaRPr lang="en-US" sz="1300" dirty="0"/>
          </a:p>
        </p:txBody>
      </p:sp>
      <p:sp>
        <p:nvSpPr>
          <p:cNvPr id="16" name="kpi 3 fundo"/>
          <p:cNvSpPr/>
          <p:nvPr/>
        </p:nvSpPr>
        <p:spPr>
          <a:xfrm>
            <a:off x="548640" y="3703320"/>
            <a:ext cx="3515258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/>
        </p:spPr>
      </p:sp>
      <p:sp>
        <p:nvSpPr>
          <p:cNvPr id="17" name="kpi 3 numero"/>
          <p:cNvSpPr txBox="1"/>
          <p:nvPr/>
        </p:nvSpPr>
        <p:spPr>
          <a:xfrm>
            <a:off x="822960" y="393192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2,9%</a:t>
            </a:r>
            <a:endParaRPr lang="en-US" sz="3600" dirty="0"/>
          </a:p>
        </p:txBody>
      </p:sp>
      <p:sp>
        <p:nvSpPr>
          <p:cNvPr id="18" name="kpi 3 rotulo"/>
          <p:cNvSpPr txBox="1"/>
          <p:nvPr/>
        </p:nvSpPr>
        <p:spPr>
          <a:xfrm>
            <a:off x="822960" y="466344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churn médio mensal</a:t>
            </a:r>
            <a:endParaRPr lang="en-US" sz="1600" dirty="0"/>
          </a:p>
        </p:txBody>
      </p:sp>
      <p:sp>
        <p:nvSpPr>
          <p:cNvPr id="19" name="kpi 3 detalhe"/>
          <p:cNvSpPr txBox="1"/>
          <p:nvPr/>
        </p:nvSpPr>
        <p:spPr>
          <a:xfrm>
            <a:off x="822960" y="502920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média dos últimos 12 meses</a:t>
            </a:r>
            <a:endParaRPr lang="en-US" sz="1300" dirty="0"/>
          </a:p>
        </p:txBody>
      </p:sp>
      <p:sp>
        <p:nvSpPr>
          <p:cNvPr id="20" name="kpi 4 fundo"/>
          <p:cNvSpPr/>
          <p:nvPr/>
        </p:nvSpPr>
        <p:spPr>
          <a:xfrm>
            <a:off x="4338218" y="3703320"/>
            <a:ext cx="3515258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/>
        </p:spPr>
      </p:sp>
      <p:sp>
        <p:nvSpPr>
          <p:cNvPr id="21" name="kpi 4 numero"/>
          <p:cNvSpPr txBox="1"/>
          <p:nvPr/>
        </p:nvSpPr>
        <p:spPr>
          <a:xfrm>
            <a:off x="4612538" y="393192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R$ 69,7 mil</a:t>
            </a:r>
            <a:endParaRPr lang="en-US" sz="3600" dirty="0"/>
          </a:p>
        </p:txBody>
      </p:sp>
      <p:sp>
        <p:nvSpPr>
          <p:cNvPr id="22" name="kpi 4 rotulo"/>
          <p:cNvSpPr txBox="1"/>
          <p:nvPr/>
        </p:nvSpPr>
        <p:spPr>
          <a:xfrm>
            <a:off x="4612538" y="466344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MRR perdido em 12 meses</a:t>
            </a:r>
            <a:endParaRPr lang="en-US" sz="1600" dirty="0"/>
          </a:p>
        </p:txBody>
      </p:sp>
      <p:sp>
        <p:nvSpPr>
          <p:cNvPr id="23" name="kpi 4 detalhe"/>
          <p:cNvSpPr txBox="1"/>
          <p:nvPr/>
        </p:nvSpPr>
        <p:spPr>
          <a:xfrm>
            <a:off x="4612538" y="502920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157 contratos cancelados</a:t>
            </a:r>
            <a:endParaRPr lang="en-US" sz="1300" dirty="0"/>
          </a:p>
        </p:txBody>
      </p:sp>
      <p:sp>
        <p:nvSpPr>
          <p:cNvPr id="24" name="kpi 5 fundo"/>
          <p:cNvSpPr/>
          <p:nvPr/>
        </p:nvSpPr>
        <p:spPr>
          <a:xfrm>
            <a:off x="8127797" y="3703320"/>
            <a:ext cx="3515258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/>
        </p:spPr>
      </p:sp>
      <p:sp>
        <p:nvSpPr>
          <p:cNvPr id="25" name="kpi 5 numero"/>
          <p:cNvSpPr txBox="1"/>
          <p:nvPr/>
        </p:nvSpPr>
        <p:spPr>
          <a:xfrm>
            <a:off x="8402117" y="393192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10,8 meses</a:t>
            </a:r>
            <a:endParaRPr lang="en-US" sz="3600" dirty="0"/>
          </a:p>
        </p:txBody>
      </p:sp>
      <p:sp>
        <p:nvSpPr>
          <p:cNvPr id="26" name="kpi 5 rotulo"/>
          <p:cNvSpPr txBox="1"/>
          <p:nvPr/>
        </p:nvSpPr>
        <p:spPr>
          <a:xfrm>
            <a:off x="8402117" y="466344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vida média de quem cancela</a:t>
            </a:r>
            <a:endParaRPr lang="en-US" sz="1600" dirty="0"/>
          </a:p>
        </p:txBody>
      </p:sp>
      <p:sp>
        <p:nvSpPr>
          <p:cNvPr id="27" name="kpi 5 detalhe"/>
          <p:cNvSpPr txBox="1"/>
          <p:nvPr/>
        </p:nvSpPr>
        <p:spPr>
          <a:xfrm>
            <a:off x="8402117" y="502920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metade cancela até o 8º mês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3  |  Indicadores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 carteira cresceu até junho de 2026 e recuou nos últimos três meses</a:t>
            </a:r>
            <a:endParaRPr lang="en-US" sz="3000" dirty="0"/>
          </a:p>
        </p:txBody>
      </p:sp>
      <p:graphicFrame>
        <p:nvGraphicFramePr>
          <p:cNvPr id="4" name="grafico contratos vigentes" descr=""/>
          <p:cNvGraphicFramePr/>
          <p:nvPr/>
        </p:nvGraphicFramePr>
        <p:xfrm>
          <a:off x="548640" y="1417320"/>
          <a:ext cx="5364328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grafico mrr vigente" descr=""/>
          <p:cNvGraphicFramePr/>
          <p:nvPr/>
        </p:nvGraphicFramePr>
        <p:xfrm>
          <a:off x="6278728" y="1417320"/>
          <a:ext cx="5364328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nota corte"/>
          <p:cNvSpPr txBox="1"/>
          <p:nvPr/>
        </p:nvSpPr>
        <p:spPr>
          <a:xfrm>
            <a:off x="548640" y="56692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Pico em jun/26: 467 contratos e R$ 224,8 mil de MRR. Em set/26: 428 contratos e R$ 200,9 mil. Atenção: a base não tem contratos iniciados depois de 19/07/2026, então parte da queda pode ser efeito do corte dos dados.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3  |  Indicadores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Os cancelamentos mais que triplicaram desde 2021</a:t>
            </a:r>
            <a:endParaRPr lang="en-US" sz="3000" dirty="0"/>
          </a:p>
        </p:txBody>
      </p:sp>
      <p:graphicFrame>
        <p:nvGraphicFramePr>
          <p:cNvPr id="4" name="grafico entradas saidas" descr=""/>
          <p:cNvGraphicFramePr/>
          <p:nvPr/>
        </p:nvGraphicFramePr>
        <p:xfrm>
          <a:off x="548640" y="1417320"/>
          <a:ext cx="749808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razao entradas saidas"/>
          <p:cNvSpPr txBox="1"/>
          <p:nvPr/>
        </p:nvSpPr>
        <p:spPr>
          <a:xfrm>
            <a:off x="8503920" y="1783080"/>
            <a:ext cx="3139135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Novos contratos para cada cancelamento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2021:  4,9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2022:  2,1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2023:  1,7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2024:  1,9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2025:  1,5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 carteira ainda cresce, mas cada vez mais devagar. O ganho vem sendo consumido pelo churn.</a:t>
            </a:r>
            <a:endParaRPr lang="en-US" sz="1600" dirty="0"/>
          </a:p>
        </p:txBody>
      </p:sp>
      <p:sp>
        <p:nvSpPr>
          <p:cNvPr id="6" name="nota 2026"/>
          <p:cNvSpPr txBox="1"/>
          <p:nvPr/>
        </p:nvSpPr>
        <p:spPr>
          <a:xfrm>
            <a:off x="548640" y="59436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* 2026 vai até setembro e não tem contratos iniciados após 19/07, por isso não entra na comparação.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3  |  Indicadores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 churn mensal do 3º trimestre de 2026 é o mais alto desde 2023</a:t>
            </a:r>
            <a:endParaRPr lang="en-US" sz="3000" dirty="0"/>
          </a:p>
        </p:txBody>
      </p:sp>
      <p:graphicFrame>
        <p:nvGraphicFramePr>
          <p:cNvPr id="4" name="grafico churn trimestral" descr=""/>
          <p:cNvGraphicFramePr/>
          <p:nvPr/>
        </p:nvGraphicFramePr>
        <p:xfrm>
          <a:off x="548640" y="1417320"/>
          <a:ext cx="749808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destaque churn"/>
          <p:cNvSpPr txBox="1"/>
          <p:nvPr/>
        </p:nvSpPr>
        <p:spPr>
          <a:xfrm>
            <a:off x="8503920" y="1783080"/>
            <a:ext cx="313913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Churn mensal médio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cancelamentos do mês ÷ contratos vigentes no início do mês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3,6%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no 3T26, contra 2,5% na média dos 10 trimestres anteriores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Diferente do volume de contratos, essa taxa não é afetada pela falta de entradas após julho.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3  |  Indicadores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Como cada indicador é calculado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669280"/>
                <a:gridCol w="304495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Indicador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Como é calculado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O que mostra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Contratos vigentes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Contratos iniciados até a data e sem cancelamento até ela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Tamanho da carteira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MRR vigente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Soma da mensalidade de tabela dos contratos vigentes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Receita recorrente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Churn mensal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Cancelamentos do mês ÷ contratos vigentes no início do mês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Velocidade de perda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MRR perdido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Mensalidade dos contratos cancelados no período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Impacto financeiro do churn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Inadimplência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Contratos inadimplentes ÷ contratos vigentes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Receita em risco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Tempo de vida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Meses entre o início e o cancelamento do contrato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Em que momento o cliente sai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4  |  Churn e risco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Concorrência é o principal motivo de cancelamento</a:t>
            </a:r>
            <a:endParaRPr lang="en-US" sz="3000" dirty="0"/>
          </a:p>
        </p:txBody>
      </p:sp>
      <p:graphicFrame>
        <p:nvGraphicFramePr>
          <p:cNvPr id="4" name="grafico motivos" descr=""/>
          <p:cNvGraphicFramePr/>
          <p:nvPr/>
        </p:nvGraphicFramePr>
        <p:xfrm>
          <a:off x="548640" y="1417320"/>
          <a:ext cx="658368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mrr por motivo"/>
          <p:cNvSpPr txBox="1"/>
          <p:nvPr/>
        </p:nvSpPr>
        <p:spPr>
          <a:xfrm>
            <a:off x="7589520" y="1783080"/>
            <a:ext cx="4053535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MRR perdido por motivo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Concorrentes:  R$ 84,2 mil  (33% dos casos)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Preço:  R$ 50,8 mil  (18% dos casos)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Produto:  R$ 49,2 mil  (19% dos casos)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Outro:  R$ 42,4 mil  (15% dos casos)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Migração:  R$ 37,0 mil  (15% dos casos)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Um em cada três cancelamentos vai para a concorrência.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Em "Migração", só 8 de 87 clientes têm outro contrato aberto perto da data do cancelamento. Vale revisar como esse motivo é registrado.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4  |  Churn e risco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 risco de cancelar é maior no primeiro ano de contrato</a:t>
            </a:r>
            <a:endParaRPr lang="en-US" sz="3000" dirty="0"/>
          </a:p>
        </p:txBody>
      </p:sp>
      <p:graphicFrame>
        <p:nvGraphicFramePr>
          <p:cNvPr id="4" name="grafico tempo de casa" descr=""/>
          <p:cNvGraphicFramePr/>
          <p:nvPr/>
        </p:nvGraphicFramePr>
        <p:xfrm>
          <a:off x="548640" y="1417320"/>
          <a:ext cx="749808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destaque tempo de casa"/>
          <p:cNvSpPr txBox="1"/>
          <p:nvPr/>
        </p:nvSpPr>
        <p:spPr>
          <a:xfrm>
            <a:off x="8503920" y="1783080"/>
            <a:ext cx="3139135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63%</a:t>
            </a:r>
            <a:endParaRPr lang="en-US" sz="40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dos cancelamentos acontecem antes do contrato completar 12 meses</a:t>
            </a:r>
            <a:endParaRPr lang="en-US" sz="4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 </a:t>
            </a:r>
            <a:endParaRPr lang="en-US" sz="40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Depois de 3 anos de casa, a chance de cancelar cai para pouco mais de 1%.</a:t>
            </a:r>
            <a:endParaRPr lang="en-US" sz="4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 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Cálculo: para cada mês do histórico, contratos vigentes naquela data e quantos cancelaram nos 6 meses seguintes.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4  |  Churn e risco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Plano e periodicidade quase não mudam a taxa de cancelamento</a:t>
            </a:r>
            <a:endParaRPr lang="en-US" sz="3000" dirty="0"/>
          </a:p>
        </p:txBody>
      </p:sp>
      <p:graphicFrame>
        <p:nvGraphicFramePr>
          <p:cNvPr id="4" name="grafico por plano" descr=""/>
          <p:cNvGraphicFramePr/>
          <p:nvPr/>
        </p:nvGraphicFramePr>
        <p:xfrm>
          <a:off x="548640" y="1417320"/>
          <a:ext cx="5364328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grafico por periodicidade" descr=""/>
          <p:cNvGraphicFramePr/>
          <p:nvPr/>
        </p:nvGraphicFramePr>
        <p:xfrm>
          <a:off x="6278728" y="1417320"/>
          <a:ext cx="5364328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nota plano"/>
          <p:cNvSpPr txBox="1"/>
          <p:nvPr/>
        </p:nvSpPr>
        <p:spPr>
          <a:xfrm>
            <a:off x="548640" y="5623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A diferença entre o melhor e o pior grupo é de 6 a 7 p.p. O churn parece mais ligado à jornada do cliente (tempo de casa) do que ao produto contratado. UF e região também foram testadas e não mostraram padrão.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4  |  Churn e risco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Um modelo simples estima o risco de churn de cada contrato</a:t>
            </a:r>
            <a:endParaRPr lang="en-US" sz="3000" dirty="0"/>
          </a:p>
        </p:txBody>
      </p:sp>
      <p:sp>
        <p:nvSpPr>
          <p:cNvPr id="4" name="passo 0 fundo"/>
          <p:cNvSpPr/>
          <p:nvPr/>
        </p:nvSpPr>
        <p:spPr>
          <a:xfrm>
            <a:off x="548640" y="1508760"/>
            <a:ext cx="2567864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/>
        </p:spPr>
      </p:sp>
      <p:sp>
        <p:nvSpPr>
          <p:cNvPr id="5" name="passo 0 numero"/>
          <p:cNvSpPr txBox="1"/>
          <p:nvPr/>
        </p:nvSpPr>
        <p:spPr>
          <a:xfrm>
            <a:off x="822960" y="16916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passo 0 texto"/>
          <p:cNvSpPr txBox="1"/>
          <p:nvPr/>
        </p:nvSpPr>
        <p:spPr>
          <a:xfrm>
            <a:off x="822960" y="2286000"/>
            <a:ext cx="20192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Fotografia mensal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Para cada mês do histórico, os contratos que estavam vigentes naquela data.</a:t>
            </a:r>
            <a:endParaRPr lang="en-US" sz="1800" dirty="0"/>
          </a:p>
        </p:txBody>
      </p:sp>
      <p:sp>
        <p:nvSpPr>
          <p:cNvPr id="7" name="seta passo 0"/>
          <p:cNvSpPr/>
          <p:nvPr/>
        </p:nvSpPr>
        <p:spPr>
          <a:xfrm>
            <a:off x="3143936" y="2560320"/>
            <a:ext cx="219456" cy="219456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8" name="passo 1 fundo"/>
          <p:cNvSpPr/>
          <p:nvPr/>
        </p:nvSpPr>
        <p:spPr>
          <a:xfrm>
            <a:off x="3390824" y="1508760"/>
            <a:ext cx="2567864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/>
        </p:spPr>
      </p:sp>
      <p:sp>
        <p:nvSpPr>
          <p:cNvPr id="9" name="passo 1 numero"/>
          <p:cNvSpPr txBox="1"/>
          <p:nvPr/>
        </p:nvSpPr>
        <p:spPr>
          <a:xfrm>
            <a:off x="3665144" y="16916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2</a:t>
            </a:r>
            <a:endParaRPr lang="en-US" sz="3000" dirty="0"/>
          </a:p>
        </p:txBody>
      </p:sp>
      <p:sp>
        <p:nvSpPr>
          <p:cNvPr id="10" name="passo 1 texto"/>
          <p:cNvSpPr txBox="1"/>
          <p:nvPr/>
        </p:nvSpPr>
        <p:spPr>
          <a:xfrm>
            <a:off x="3665144" y="2286000"/>
            <a:ext cx="20192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6 meses à frente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Em cada fotografia, marca quem cancelou nos 6 meses seguintes.</a:t>
            </a:r>
            <a:endParaRPr lang="en-US" sz="1800" dirty="0"/>
          </a:p>
        </p:txBody>
      </p:sp>
      <p:sp>
        <p:nvSpPr>
          <p:cNvPr id="11" name="seta passo 1"/>
          <p:cNvSpPr/>
          <p:nvPr/>
        </p:nvSpPr>
        <p:spPr>
          <a:xfrm>
            <a:off x="5986120" y="2560320"/>
            <a:ext cx="219456" cy="219456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2" name="passo 2 fundo"/>
          <p:cNvSpPr/>
          <p:nvPr/>
        </p:nvSpPr>
        <p:spPr>
          <a:xfrm>
            <a:off x="6233008" y="1508760"/>
            <a:ext cx="2567864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/>
        </p:spPr>
      </p:sp>
      <p:sp>
        <p:nvSpPr>
          <p:cNvPr id="13" name="passo 2 numero"/>
          <p:cNvSpPr txBox="1"/>
          <p:nvPr/>
        </p:nvSpPr>
        <p:spPr>
          <a:xfrm>
            <a:off x="6507328" y="16916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4" name="passo 2 texto"/>
          <p:cNvSpPr txBox="1"/>
          <p:nvPr/>
        </p:nvSpPr>
        <p:spPr>
          <a:xfrm>
            <a:off x="6507328" y="2286000"/>
            <a:ext cx="20192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Taxa por perfil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Agrupa por tempo de casa e uso de cupom e calcula a taxa de cancelamento.</a:t>
            </a:r>
            <a:endParaRPr lang="en-US" sz="1800" dirty="0"/>
          </a:p>
        </p:txBody>
      </p:sp>
      <p:sp>
        <p:nvSpPr>
          <p:cNvPr id="15" name="seta passo 2"/>
          <p:cNvSpPr/>
          <p:nvPr/>
        </p:nvSpPr>
        <p:spPr>
          <a:xfrm>
            <a:off x="8828303" y="2560320"/>
            <a:ext cx="219456" cy="219456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6" name="passo 3 fundo"/>
          <p:cNvSpPr/>
          <p:nvPr/>
        </p:nvSpPr>
        <p:spPr>
          <a:xfrm>
            <a:off x="9075191" y="1508760"/>
            <a:ext cx="2567864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/>
        </p:spPr>
      </p:sp>
      <p:sp>
        <p:nvSpPr>
          <p:cNvPr id="17" name="passo 3 numero"/>
          <p:cNvSpPr txBox="1"/>
          <p:nvPr/>
        </p:nvSpPr>
        <p:spPr>
          <a:xfrm>
            <a:off x="9349511" y="16916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4</a:t>
            </a:r>
            <a:endParaRPr lang="en-US" sz="3000" dirty="0"/>
          </a:p>
        </p:txBody>
      </p:sp>
      <p:sp>
        <p:nvSpPr>
          <p:cNvPr id="18" name="passo 3 texto"/>
          <p:cNvSpPr txBox="1"/>
          <p:nvPr/>
        </p:nvSpPr>
        <p:spPr>
          <a:xfrm>
            <a:off x="9349511" y="2286000"/>
            <a:ext cx="20192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Aplica aos ativos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Cada contrato vigente recebe a taxa do seu perfil. Inadimplente vai direto para risco alto.</a:t>
            </a:r>
            <a:endParaRPr lang="en-US" sz="1800" dirty="0"/>
          </a:p>
        </p:txBody>
      </p:sp>
      <p:sp>
        <p:nvSpPr>
          <p:cNvPr id="19" name="modelo variaveis"/>
          <p:cNvSpPr txBox="1"/>
          <p:nvPr/>
        </p:nvSpPr>
        <p:spPr>
          <a:xfrm>
            <a:off x="548640" y="4160520"/>
            <a:ext cx="531860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Por que essas variáveis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Testei plano, periodicidade, UF e região: não mudam a chance de cancelar. O tempo de casa separa bem, e quem usa cupom cancela um pouco menos.</a:t>
            </a:r>
            <a:endParaRPr lang="en-US" sz="1600" dirty="0"/>
          </a:p>
        </p:txBody>
      </p:sp>
      <p:sp>
        <p:nvSpPr>
          <p:cNvPr id="20" name="modelo simples"/>
          <p:cNvSpPr txBox="1"/>
          <p:nvPr/>
        </p:nvSpPr>
        <p:spPr>
          <a:xfrm>
            <a:off x="6324448" y="4160520"/>
            <a:ext cx="531860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Por que um modelo simples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Com 1.000 contratos e poucas variáveis com sinal, preferi algo que o time consegue entender e auditar. Roda em Python (pandas) e se recalcula com os dados novos a cada execução.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4  |  Churn e risco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No teste, o risco alto cancelou 20 vezes mais que o baixo</a:t>
            </a:r>
            <a:endParaRPr lang="en-US" sz="3000" dirty="0"/>
          </a:p>
        </p:txBody>
      </p:sp>
      <p:graphicFrame>
        <p:nvGraphicFramePr>
          <p:cNvPr id="4" name="grafico backtest" descr=""/>
          <p:cNvGraphicFramePr/>
          <p:nvPr/>
        </p:nvGraphicFramePr>
        <p:xfrm>
          <a:off x="548640" y="1417320"/>
          <a:ext cx="658368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o backtest"/>
          <p:cNvSpPr txBox="1"/>
          <p:nvPr/>
        </p:nvSpPr>
        <p:spPr>
          <a:xfrm>
            <a:off x="7589520" y="1783080"/>
            <a:ext cx="4053535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Como foi o teste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Voltei para abr/26 e treinei o modelo só com o que se sabia até ali. Depois comparei com quem realmente cancelou até out/26.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Alto: 179 contratos, previsto 17%, real 24%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Médio: 100 contratos, previsto 12%, real 16%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Baixo: 179 contratos, previsto 3%, real 1%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O modelo ordena bem o risco. O valor exato é aproximado, por isso o uso é por nível e não pela probabilidade.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4  |  Churn e risco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Hoje, 164 contratos estão em risco alto</a:t>
            </a:r>
            <a:endParaRPr lang="en-US" sz="3000" dirty="0"/>
          </a:p>
        </p:txBody>
      </p:sp>
      <p:sp>
        <p:nvSpPr>
          <p:cNvPr id="4" name="risco 0 fundo"/>
          <p:cNvSpPr/>
          <p:nvPr/>
        </p:nvSpPr>
        <p:spPr>
          <a:xfrm>
            <a:off x="548640" y="1463040"/>
            <a:ext cx="3515258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5" name="risco 0 numero"/>
          <p:cNvSpPr txBox="1"/>
          <p:nvPr/>
        </p:nvSpPr>
        <p:spPr>
          <a:xfrm>
            <a:off x="822960" y="169164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164</a:t>
            </a:r>
            <a:endParaRPr lang="en-US" sz="3600" dirty="0"/>
          </a:p>
        </p:txBody>
      </p:sp>
      <p:sp>
        <p:nvSpPr>
          <p:cNvPr id="6" name="risco 0 rotulo"/>
          <p:cNvSpPr txBox="1"/>
          <p:nvPr/>
        </p:nvSpPr>
        <p:spPr>
          <a:xfrm>
            <a:off x="822960" y="242316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contratos em risco alto</a:t>
            </a:r>
            <a:endParaRPr lang="en-US" sz="1600" dirty="0"/>
          </a:p>
        </p:txBody>
      </p:sp>
      <p:sp>
        <p:nvSpPr>
          <p:cNvPr id="7" name="risco 0 detalhe"/>
          <p:cNvSpPr txBox="1"/>
          <p:nvPr/>
        </p:nvSpPr>
        <p:spPr>
          <a:xfrm>
            <a:off x="822960" y="278892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R$ 74,9 mil de MRR</a:t>
            </a:r>
            <a:endParaRPr lang="en-US" sz="1300" dirty="0"/>
          </a:p>
        </p:txBody>
      </p:sp>
      <p:sp>
        <p:nvSpPr>
          <p:cNvPr id="8" name="risco 1 fundo"/>
          <p:cNvSpPr/>
          <p:nvPr/>
        </p:nvSpPr>
        <p:spPr>
          <a:xfrm>
            <a:off x="4338218" y="1463040"/>
            <a:ext cx="3515258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9" name="risco 1 numero"/>
          <p:cNvSpPr txBox="1"/>
          <p:nvPr/>
        </p:nvSpPr>
        <p:spPr>
          <a:xfrm>
            <a:off x="4612538" y="169164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87</a:t>
            </a:r>
            <a:endParaRPr lang="en-US" sz="3600" dirty="0"/>
          </a:p>
        </p:txBody>
      </p:sp>
      <p:sp>
        <p:nvSpPr>
          <p:cNvPr id="10" name="risco 1 rotulo"/>
          <p:cNvSpPr txBox="1"/>
          <p:nvPr/>
        </p:nvSpPr>
        <p:spPr>
          <a:xfrm>
            <a:off x="4612538" y="242316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contratos em risco médio</a:t>
            </a:r>
            <a:endParaRPr lang="en-US" sz="1600" dirty="0"/>
          </a:p>
        </p:txBody>
      </p:sp>
      <p:sp>
        <p:nvSpPr>
          <p:cNvPr id="11" name="risco 1 detalhe"/>
          <p:cNvSpPr txBox="1"/>
          <p:nvPr/>
        </p:nvSpPr>
        <p:spPr>
          <a:xfrm>
            <a:off x="4612538" y="278892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R$ 34,6 mil de MRR</a:t>
            </a:r>
            <a:endParaRPr lang="en-US" sz="1300" dirty="0"/>
          </a:p>
        </p:txBody>
      </p:sp>
      <p:sp>
        <p:nvSpPr>
          <p:cNvPr id="12" name="risco 2 fundo"/>
          <p:cNvSpPr/>
          <p:nvPr/>
        </p:nvSpPr>
        <p:spPr>
          <a:xfrm>
            <a:off x="8127797" y="1463040"/>
            <a:ext cx="3515258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3" name="risco 2 numero"/>
          <p:cNvSpPr txBox="1"/>
          <p:nvPr/>
        </p:nvSpPr>
        <p:spPr>
          <a:xfrm>
            <a:off x="8402117" y="169164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177</a:t>
            </a:r>
            <a:endParaRPr lang="en-US" sz="3600" dirty="0"/>
          </a:p>
        </p:txBody>
      </p:sp>
      <p:sp>
        <p:nvSpPr>
          <p:cNvPr id="14" name="risco 2 rotulo"/>
          <p:cNvSpPr txBox="1"/>
          <p:nvPr/>
        </p:nvSpPr>
        <p:spPr>
          <a:xfrm>
            <a:off x="8402117" y="242316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contratos em risco baixo</a:t>
            </a:r>
            <a:endParaRPr lang="en-US" sz="1600" dirty="0"/>
          </a:p>
        </p:txBody>
      </p:sp>
      <p:sp>
        <p:nvSpPr>
          <p:cNvPr id="15" name="risco 2 detalhe"/>
          <p:cNvSpPr txBox="1"/>
          <p:nvPr/>
        </p:nvSpPr>
        <p:spPr>
          <a:xfrm>
            <a:off x="8402117" y="278892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R$ 91,4 mil de MRR</a:t>
            </a:r>
            <a:endParaRPr lang="en-US" sz="1300" dirty="0"/>
          </a:p>
        </p:txBody>
      </p:sp>
      <p:sp>
        <p:nvSpPr>
          <p:cNvPr id="16" name="titulo alerta"/>
          <p:cNvSpPr txBox="1"/>
          <p:nvPr/>
        </p:nvSpPr>
        <p:spPr>
          <a:xfrm>
            <a:off x="548640" y="3611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Alerta semanal para o time de negócios</a:t>
            </a:r>
            <a:endParaRPr lang="en-US" sz="1800" dirty="0"/>
          </a:p>
        </p:txBody>
      </p:sp>
      <p:sp>
        <p:nvSpPr>
          <p:cNvPr id="17" name="alerta 0"/>
          <p:cNvSpPr/>
          <p:nvPr/>
        </p:nvSpPr>
        <p:spPr>
          <a:xfrm>
            <a:off x="548640" y="4069080"/>
            <a:ext cx="3515258" cy="1143000"/>
          </a:xfrm>
          <a:prstGeom prst="roundRect">
            <a:avLst>
              <a:gd name="adj" fmla="val 6400"/>
            </a:avLst>
          </a:prstGeom>
          <a:solidFill>
            <a:schemeClr val="bg1"/>
          </a:solidFill>
          <a:ln w="12700">
            <a:solidFill>
              <a:srgbClr val="BFC3C8"/>
            </a:solidFill>
            <a:prstDash val="solid"/>
          </a:ln>
        </p:spPr>
      </p:sp>
      <p:sp>
        <p:nvSpPr>
          <p:cNvPr id="18" name="texto alerta 0"/>
          <p:cNvSpPr txBox="1"/>
          <p:nvPr/>
        </p:nvSpPr>
        <p:spPr>
          <a:xfrm>
            <a:off x="777240" y="4206240"/>
            <a:ext cx="30580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Entraram em churn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Contratos cancelados nos últimos 30 dias.</a:t>
            </a:r>
            <a:endParaRPr lang="en-US" sz="1600" dirty="0"/>
          </a:p>
        </p:txBody>
      </p:sp>
      <p:sp>
        <p:nvSpPr>
          <p:cNvPr id="19" name="alerta 1"/>
          <p:cNvSpPr/>
          <p:nvPr/>
        </p:nvSpPr>
        <p:spPr>
          <a:xfrm>
            <a:off x="4338218" y="4069080"/>
            <a:ext cx="3515258" cy="1143000"/>
          </a:xfrm>
          <a:prstGeom prst="roundRect">
            <a:avLst>
              <a:gd name="adj" fmla="val 6400"/>
            </a:avLst>
          </a:prstGeom>
          <a:solidFill>
            <a:schemeClr val="bg1"/>
          </a:solidFill>
          <a:ln w="12700">
            <a:solidFill>
              <a:srgbClr val="BFC3C8"/>
            </a:solidFill>
            <a:prstDash val="solid"/>
          </a:ln>
        </p:spPr>
      </p:sp>
      <p:sp>
        <p:nvSpPr>
          <p:cNvPr id="20" name="texto alerta 1"/>
          <p:cNvSpPr txBox="1"/>
          <p:nvPr/>
        </p:nvSpPr>
        <p:spPr>
          <a:xfrm>
            <a:off x="4566818" y="4206240"/>
            <a:ext cx="30580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Entraram em risco alto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Comparado com a semana anterior. É a lista de contato do CS.</a:t>
            </a:r>
            <a:endParaRPr lang="en-US" sz="1600" dirty="0"/>
          </a:p>
        </p:txBody>
      </p:sp>
      <p:sp>
        <p:nvSpPr>
          <p:cNvPr id="21" name="alerta 2"/>
          <p:cNvSpPr/>
          <p:nvPr/>
        </p:nvSpPr>
        <p:spPr>
          <a:xfrm>
            <a:off x="8127797" y="4069080"/>
            <a:ext cx="3515258" cy="1143000"/>
          </a:xfrm>
          <a:prstGeom prst="roundRect">
            <a:avLst>
              <a:gd name="adj" fmla="val 6400"/>
            </a:avLst>
          </a:prstGeom>
          <a:solidFill>
            <a:schemeClr val="bg1"/>
          </a:solidFill>
          <a:ln w="12700">
            <a:solidFill>
              <a:srgbClr val="BFC3C8"/>
            </a:solidFill>
            <a:prstDash val="solid"/>
          </a:ln>
        </p:spPr>
      </p:sp>
      <p:sp>
        <p:nvSpPr>
          <p:cNvPr id="22" name="texto alerta 2"/>
          <p:cNvSpPr txBox="1"/>
          <p:nvPr/>
        </p:nvSpPr>
        <p:spPr>
          <a:xfrm>
            <a:off x="8356397" y="4206240"/>
            <a:ext cx="30580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Novos inadimplentes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Para cobrança e contato antes que vire cancelamento.</a:t>
            </a:r>
            <a:endParaRPr lang="en-US" sz="1600" dirty="0"/>
          </a:p>
        </p:txBody>
      </p:sp>
      <p:sp>
        <p:nvSpPr>
          <p:cNvPr id="23" name="nota alerta"/>
          <p:cNvSpPr txBox="1"/>
          <p:nvPr/>
        </p:nvSpPr>
        <p:spPr>
          <a:xfrm>
            <a:off x="548640" y="5623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Um script em Python roda o modelo, compara com a execução anterior e envia o e-mail. Na primeira execução: 10 cancelamentos recentes, 164 contratos em risco alto e 65 inadimplentes.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5  |  Reativação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322 clientes perdidos somam R$ 146,8 mil de MRR</a:t>
            </a:r>
            <a:endParaRPr lang="en-US" sz="3000" dirty="0"/>
          </a:p>
        </p:txBody>
      </p:sp>
      <p:sp>
        <p:nvSpPr>
          <p:cNvPr id="4" name="reat 0 fundo"/>
          <p:cNvSpPr/>
          <p:nvPr/>
        </p:nvSpPr>
        <p:spPr>
          <a:xfrm>
            <a:off x="548640" y="1463040"/>
            <a:ext cx="3515258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5" name="reat 0 numero"/>
          <p:cNvSpPr txBox="1"/>
          <p:nvPr/>
        </p:nvSpPr>
        <p:spPr>
          <a:xfrm>
            <a:off x="822960" y="169164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322</a:t>
            </a:r>
            <a:endParaRPr lang="en-US" sz="3600" dirty="0"/>
          </a:p>
        </p:txBody>
      </p:sp>
      <p:sp>
        <p:nvSpPr>
          <p:cNvPr id="6" name="reat 0 rotulo"/>
          <p:cNvSpPr txBox="1"/>
          <p:nvPr/>
        </p:nvSpPr>
        <p:spPr>
          <a:xfrm>
            <a:off x="822960" y="242316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clientes perdidos</a:t>
            </a:r>
            <a:endParaRPr lang="en-US" sz="1600" dirty="0"/>
          </a:p>
        </p:txBody>
      </p:sp>
      <p:sp>
        <p:nvSpPr>
          <p:cNvPr id="7" name="reat 0 detalhe"/>
          <p:cNvSpPr txBox="1"/>
          <p:nvPr/>
        </p:nvSpPr>
        <p:spPr>
          <a:xfrm>
            <a:off x="822960" y="278892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último contrato cancelado e nenhum aberto</a:t>
            </a:r>
            <a:endParaRPr lang="en-US" sz="1300" dirty="0"/>
          </a:p>
        </p:txBody>
      </p:sp>
      <p:sp>
        <p:nvSpPr>
          <p:cNvPr id="8" name="reat 1 fundo"/>
          <p:cNvSpPr/>
          <p:nvPr/>
        </p:nvSpPr>
        <p:spPr>
          <a:xfrm>
            <a:off x="4338218" y="1463040"/>
            <a:ext cx="3515258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9" name="reat 1 numero"/>
          <p:cNvSpPr txBox="1"/>
          <p:nvPr/>
        </p:nvSpPr>
        <p:spPr>
          <a:xfrm>
            <a:off x="4612538" y="169164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R$ 146,8 mil</a:t>
            </a:r>
            <a:endParaRPr lang="en-US" sz="3600" dirty="0"/>
          </a:p>
        </p:txBody>
      </p:sp>
      <p:sp>
        <p:nvSpPr>
          <p:cNvPr id="10" name="reat 1 rotulo"/>
          <p:cNvSpPr txBox="1"/>
          <p:nvPr/>
        </p:nvSpPr>
        <p:spPr>
          <a:xfrm>
            <a:off x="4612538" y="242316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MRR potencial</a:t>
            </a:r>
            <a:endParaRPr lang="en-US" sz="1600" dirty="0"/>
          </a:p>
        </p:txBody>
      </p:sp>
      <p:sp>
        <p:nvSpPr>
          <p:cNvPr id="11" name="reat 1 detalhe"/>
          <p:cNvSpPr txBox="1"/>
          <p:nvPr/>
        </p:nvSpPr>
        <p:spPr>
          <a:xfrm>
            <a:off x="4612538" y="278892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se todos voltassem ao mesmo plano</a:t>
            </a:r>
            <a:endParaRPr lang="en-US" sz="1300" dirty="0"/>
          </a:p>
        </p:txBody>
      </p:sp>
      <p:sp>
        <p:nvSpPr>
          <p:cNvPr id="12" name="reat 2 fundo"/>
          <p:cNvSpPr/>
          <p:nvPr/>
        </p:nvSpPr>
        <p:spPr>
          <a:xfrm>
            <a:off x="8127797" y="1463040"/>
            <a:ext cx="3515258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3" name="reat 2 numero"/>
          <p:cNvSpPr txBox="1"/>
          <p:nvPr/>
        </p:nvSpPr>
        <p:spPr>
          <a:xfrm>
            <a:off x="8402117" y="169164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137</a:t>
            </a:r>
            <a:endParaRPr lang="en-US" sz="3600" dirty="0"/>
          </a:p>
        </p:txBody>
      </p:sp>
      <p:sp>
        <p:nvSpPr>
          <p:cNvPr id="14" name="reat 2 rotulo"/>
          <p:cNvSpPr txBox="1"/>
          <p:nvPr/>
        </p:nvSpPr>
        <p:spPr>
          <a:xfrm>
            <a:off x="8402117" y="242316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cancelamentos fora da base</a:t>
            </a:r>
            <a:endParaRPr lang="en-US" sz="1600" dirty="0"/>
          </a:p>
        </p:txBody>
      </p:sp>
      <p:sp>
        <p:nvSpPr>
          <p:cNvPr id="15" name="reat 2 detalhe"/>
          <p:cNvSpPr txBox="1"/>
          <p:nvPr/>
        </p:nvSpPr>
        <p:spPr>
          <a:xfrm>
            <a:off x="8402117" y="278892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o CPF segue ativo em outro plano</a:t>
            </a:r>
            <a:endParaRPr lang="en-US" sz="1300" dirty="0"/>
          </a:p>
        </p:txBody>
      </p:sp>
      <p:sp>
        <p:nvSpPr>
          <p:cNvPr id="16" name="titulo base reat"/>
          <p:cNvSpPr txBox="1"/>
          <p:nvPr/>
        </p:nvSpPr>
        <p:spPr>
          <a:xfrm>
            <a:off x="548640" y="36576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Por que a base é por cliente, e não por contrato</a:t>
            </a:r>
            <a:endParaRPr lang="en-US" sz="1800" dirty="0"/>
          </a:p>
        </p:txBody>
      </p:sp>
      <p:sp>
        <p:nvSpPr>
          <p:cNvPr id="17" name="lista base reat"/>
          <p:cNvSpPr txBox="1"/>
          <p:nvPr/>
        </p:nvSpPr>
        <p:spPr>
          <a:xfrm>
            <a:off x="548640" y="411480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campanha fala com pessoas: um cliente com dois contratos cancelados recebe um único contato.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Para cada cliente, vale o plano e o motivo do último contrato cancelado.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Quem cancelou um plano mas mantém outro ainda é cliente. Esse caso é de upsell, não de reativação.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5  |  Reativação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Quem cancela costuma voltar, e a chance não cai com o tempo</a:t>
            </a:r>
            <a:endParaRPr lang="en-US" sz="3000" dirty="0"/>
          </a:p>
        </p:txBody>
      </p:sp>
      <p:graphicFrame>
        <p:nvGraphicFramePr>
          <p:cNvPr id="4" name="grafico retorno" descr=""/>
          <p:cNvGraphicFramePr/>
          <p:nvPr/>
        </p:nvGraphicFramePr>
        <p:xfrm>
          <a:off x="548640" y="1417320"/>
          <a:ext cx="74980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retorno motivo"/>
          <p:cNvSpPr txBox="1"/>
          <p:nvPr/>
        </p:nvSpPr>
        <p:spPr>
          <a:xfrm>
            <a:off x="8503920" y="1783080"/>
            <a:ext cx="313913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Retorno em 12 meses, por motivo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Outro:  24%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Migração:  16%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Preço:  15%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Concorrentes:  14%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Produto:  13%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Como a chance de voltar segue subindo, ninguém foi excluído pela data do cancelamento. A recência serve só como desempate.</a:t>
            </a:r>
            <a:endParaRPr lang="en-US" sz="1600" dirty="0"/>
          </a:p>
        </p:txBody>
      </p:sp>
      <p:sp>
        <p:nvSpPr>
          <p:cNvPr id="6" name="nota retorno"/>
          <p:cNvSpPr txBox="1"/>
          <p:nvPr/>
        </p:nvSpPr>
        <p:spPr>
          <a:xfrm>
            <a:off x="548640" y="57607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Em cada janela entram só cancelamentos com tempo suficiente de observação. Exemplo: para "até 24 meses", só cancelamentos de pelo menos 24 meses atrás.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5  |  Reativação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Business e Enterprise são 36% dos clientes e 72% do MRR em jogo</a:t>
            </a:r>
            <a:endParaRPr lang="en-US" sz="3000" dirty="0"/>
          </a:p>
        </p:txBody>
      </p:sp>
      <p:graphicFrame>
        <p:nvGraphicFramePr>
          <p:cNvPr id="4" name="grafico planos reat" descr=""/>
          <p:cNvGraphicFramePr/>
          <p:nvPr/>
        </p:nvGraphicFramePr>
        <p:xfrm>
          <a:off x="548640" y="1417320"/>
          <a:ext cx="749808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o planos reat"/>
          <p:cNvSpPr txBox="1"/>
          <p:nvPr/>
        </p:nvSpPr>
        <p:spPr>
          <a:xfrm>
            <a:off x="8503920" y="1783080"/>
            <a:ext cx="313913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Um cliente Enterprise vale 12 clientes Start.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 contato humano é o recurso mais caro e mais limitado do time. Ele deve ir primeiro para onde está o dinheiro.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Os outros planos seguem na campanha, mas por canais de baixo custo.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5  |  Reativação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Quatro segmentos, do contato 1:1 à régua automática</a:t>
            </a:r>
            <a:endParaRPr lang="en-US" sz="3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4415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1737360"/>
                <a:gridCol w="4206240"/>
                <a:gridCol w="1005840"/>
                <a:gridCol w="1417320"/>
                <a:gridCol w="2313432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Segmento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Critério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Clientes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MRR potencial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Abordagem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Alto valor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Plano Business ou Enterprise (MRR a partir de R$ 600)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116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R$ 105,0 mil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CS consultivo 1:1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Recuperável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MRR de R$ 200 a R$ 300 e motivo "Outro" ou "Concorrentes"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69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R$ 17,3 mil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Contato ativo com comparativo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Sensível a preço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Motivo "Preço" e MRR abaixo de R$ 600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34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R$ 7,0 mil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E-mail com oferta de cupom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Nutrição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Demais casos: plano Start ou motivo "Produto" ou "Migração"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103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R$ 17,5 mil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Régua de e-mail com novidades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destaque segmentos fundo"/>
          <p:cNvSpPr/>
          <p:nvPr/>
        </p:nvSpPr>
        <p:spPr>
          <a:xfrm>
            <a:off x="548640" y="5257800"/>
            <a:ext cx="11094415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6" name="destaque segmentos"/>
          <p:cNvSpPr txBox="1"/>
          <p:nvPr/>
        </p:nvSpPr>
        <p:spPr>
          <a:xfrm>
            <a:off x="822960" y="530352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Com 116 contatos 1:1, o time cobre 72% do MRR em jogo.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Os segmentos 3 e 4 vão por e-mail e não consomem a capacidade do time. Dentro de cada segmento, a ordem é pelo MRR esperado (MRR × chance de retorno do motivo).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O que eu recomendo</a:t>
            </a:r>
            <a:endParaRPr lang="en-US" sz="3200" dirty="0"/>
          </a:p>
        </p:txBody>
      </p:sp>
      <p:sp>
        <p:nvSpPr>
          <p:cNvPr id="3" name="rec 0 fundo"/>
          <p:cNvSpPr/>
          <p:nvPr/>
        </p:nvSpPr>
        <p:spPr>
          <a:xfrm>
            <a:off x="548640" y="1600200"/>
            <a:ext cx="3515258" cy="2103120"/>
          </a:xfrm>
          <a:prstGeom prst="roundRect">
            <a:avLst>
              <a:gd name="adj" fmla="val 3478"/>
            </a:avLst>
          </a:prstGeom>
          <a:solidFill>
            <a:srgbClr val="184F95"/>
          </a:solidFill>
          <a:ln/>
        </p:spPr>
      </p:sp>
      <p:sp>
        <p:nvSpPr>
          <p:cNvPr id="4" name="rec 0 numero"/>
          <p:cNvSpPr txBox="1"/>
          <p:nvPr/>
        </p:nvSpPr>
        <p:spPr>
          <a:xfrm>
            <a:off x="822960" y="17830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86B6EF"/>
                </a:solidFill>
              </a:rPr>
              <a:t>1</a:t>
            </a:r>
            <a:endParaRPr lang="en-US" sz="3000" dirty="0"/>
          </a:p>
        </p:txBody>
      </p:sp>
      <p:sp>
        <p:nvSpPr>
          <p:cNvPr id="5" name="rec 0 texto"/>
          <p:cNvSpPr txBox="1"/>
          <p:nvPr/>
        </p:nvSpPr>
        <p:spPr>
          <a:xfrm>
            <a:off x="822960" y="2377440"/>
            <a:ext cx="29666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Churn mensal com meta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DE2FB"/>
                </a:solidFill>
              </a:rPr>
              <a:t>O 3T26 está em 3,6%, acima da média de 2,5%. Acompanhar mês a mês.</a:t>
            </a:r>
            <a:endParaRPr lang="en-US" sz="1800" dirty="0"/>
          </a:p>
        </p:txBody>
      </p:sp>
      <p:sp>
        <p:nvSpPr>
          <p:cNvPr id="6" name="rec 1 fundo"/>
          <p:cNvSpPr/>
          <p:nvPr/>
        </p:nvSpPr>
        <p:spPr>
          <a:xfrm>
            <a:off x="4338218" y="1600200"/>
            <a:ext cx="3515258" cy="2103120"/>
          </a:xfrm>
          <a:prstGeom prst="roundRect">
            <a:avLst>
              <a:gd name="adj" fmla="val 3478"/>
            </a:avLst>
          </a:prstGeom>
          <a:solidFill>
            <a:srgbClr val="184F95"/>
          </a:solidFill>
          <a:ln/>
        </p:spPr>
      </p:sp>
      <p:sp>
        <p:nvSpPr>
          <p:cNvPr id="7" name="rec 1 numero"/>
          <p:cNvSpPr txBox="1"/>
          <p:nvPr/>
        </p:nvSpPr>
        <p:spPr>
          <a:xfrm>
            <a:off x="4612538" y="17830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86B6EF"/>
                </a:solidFill>
              </a:rPr>
              <a:t>2</a:t>
            </a:r>
            <a:endParaRPr lang="en-US" sz="3000" dirty="0"/>
          </a:p>
        </p:txBody>
      </p:sp>
      <p:sp>
        <p:nvSpPr>
          <p:cNvPr id="8" name="rec 1 texto"/>
          <p:cNvSpPr txBox="1"/>
          <p:nvPr/>
        </p:nvSpPr>
        <p:spPr>
          <a:xfrm>
            <a:off x="4612538" y="2377440"/>
            <a:ext cx="29666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Foco no primeiro ano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DE2FB"/>
                </a:solidFill>
              </a:rPr>
              <a:t>63% dos cancelamentos acontecem antes de 12 meses. Onboarding e acompanhamento próximo.</a:t>
            </a:r>
            <a:endParaRPr lang="en-US" sz="1800" dirty="0"/>
          </a:p>
        </p:txBody>
      </p:sp>
      <p:sp>
        <p:nvSpPr>
          <p:cNvPr id="9" name="rec 2 fundo"/>
          <p:cNvSpPr/>
          <p:nvPr/>
        </p:nvSpPr>
        <p:spPr>
          <a:xfrm>
            <a:off x="8127797" y="1600200"/>
            <a:ext cx="3515258" cy="2103120"/>
          </a:xfrm>
          <a:prstGeom prst="roundRect">
            <a:avLst>
              <a:gd name="adj" fmla="val 3478"/>
            </a:avLst>
          </a:prstGeom>
          <a:solidFill>
            <a:srgbClr val="184F95"/>
          </a:solidFill>
          <a:ln/>
        </p:spPr>
      </p:sp>
      <p:sp>
        <p:nvSpPr>
          <p:cNvPr id="10" name="rec 2 numero"/>
          <p:cNvSpPr txBox="1"/>
          <p:nvPr/>
        </p:nvSpPr>
        <p:spPr>
          <a:xfrm>
            <a:off x="8402117" y="17830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86B6EF"/>
                </a:solidFill>
              </a:rPr>
              <a:t>3</a:t>
            </a:r>
            <a:endParaRPr lang="en-US" sz="3000" dirty="0"/>
          </a:p>
        </p:txBody>
      </p:sp>
      <p:sp>
        <p:nvSpPr>
          <p:cNvPr id="11" name="rec 2 texto"/>
          <p:cNvSpPr txBox="1"/>
          <p:nvPr/>
        </p:nvSpPr>
        <p:spPr>
          <a:xfrm>
            <a:off x="8402117" y="2377440"/>
            <a:ext cx="29666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Lista semanal de risco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DE2FB"/>
                </a:solidFill>
              </a:rPr>
              <a:t>164 contratos em risco alto, com R$ 74,9 mil de MRR. O CS começa por eles.</a:t>
            </a:r>
            <a:endParaRPr lang="en-US" sz="1800" dirty="0"/>
          </a:p>
        </p:txBody>
      </p:sp>
      <p:sp>
        <p:nvSpPr>
          <p:cNvPr id="12" name="rec 3 fundo"/>
          <p:cNvSpPr/>
          <p:nvPr/>
        </p:nvSpPr>
        <p:spPr>
          <a:xfrm>
            <a:off x="548640" y="3977640"/>
            <a:ext cx="3515258" cy="2103120"/>
          </a:xfrm>
          <a:prstGeom prst="roundRect">
            <a:avLst>
              <a:gd name="adj" fmla="val 3478"/>
            </a:avLst>
          </a:prstGeom>
          <a:solidFill>
            <a:srgbClr val="184F95"/>
          </a:solidFill>
          <a:ln/>
        </p:spPr>
      </p:sp>
      <p:sp>
        <p:nvSpPr>
          <p:cNvPr id="13" name="rec 3 numero"/>
          <p:cNvSpPr txBox="1"/>
          <p:nvPr/>
        </p:nvSpPr>
        <p:spPr>
          <a:xfrm>
            <a:off x="822960" y="41605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86B6EF"/>
                </a:solidFill>
              </a:rPr>
              <a:t>4</a:t>
            </a:r>
            <a:endParaRPr lang="en-US" sz="3000" dirty="0"/>
          </a:p>
        </p:txBody>
      </p:sp>
      <p:sp>
        <p:nvSpPr>
          <p:cNvPr id="14" name="rec 3 texto"/>
          <p:cNvSpPr txBox="1"/>
          <p:nvPr/>
        </p:nvSpPr>
        <p:spPr>
          <a:xfrm>
            <a:off x="822960" y="4754880"/>
            <a:ext cx="29666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Inadimplência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DE2FB"/>
                </a:solidFill>
              </a:rPr>
              <a:t>65 contratos e R$ 31,0 mil de MRR em risco. Contato antes que vire cancelamento.</a:t>
            </a:r>
            <a:endParaRPr lang="en-US" sz="1800" dirty="0"/>
          </a:p>
        </p:txBody>
      </p:sp>
      <p:sp>
        <p:nvSpPr>
          <p:cNvPr id="15" name="rec 4 fundo"/>
          <p:cNvSpPr/>
          <p:nvPr/>
        </p:nvSpPr>
        <p:spPr>
          <a:xfrm>
            <a:off x="4338218" y="3977640"/>
            <a:ext cx="3515258" cy="2103120"/>
          </a:xfrm>
          <a:prstGeom prst="roundRect">
            <a:avLst>
              <a:gd name="adj" fmla="val 3478"/>
            </a:avLst>
          </a:prstGeom>
          <a:solidFill>
            <a:srgbClr val="184F95"/>
          </a:solidFill>
          <a:ln/>
        </p:spPr>
      </p:sp>
      <p:sp>
        <p:nvSpPr>
          <p:cNvPr id="16" name="rec 4 numero"/>
          <p:cNvSpPr txBox="1"/>
          <p:nvPr/>
        </p:nvSpPr>
        <p:spPr>
          <a:xfrm>
            <a:off x="4612538" y="41605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86B6EF"/>
                </a:solidFill>
              </a:rPr>
              <a:t>5</a:t>
            </a:r>
            <a:endParaRPr lang="en-US" sz="3000" dirty="0"/>
          </a:p>
        </p:txBody>
      </p:sp>
      <p:sp>
        <p:nvSpPr>
          <p:cNvPr id="17" name="rec 4 texto"/>
          <p:cNvSpPr txBox="1"/>
          <p:nvPr/>
        </p:nvSpPr>
        <p:spPr>
          <a:xfrm>
            <a:off x="4612538" y="4754880"/>
            <a:ext cx="29666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Reativação pelo segmento 1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DE2FB"/>
                </a:solidFill>
              </a:rPr>
              <a:t>116 clientes Business e Enterprise concentram 72% do MRR em jogo.</a:t>
            </a:r>
            <a:endParaRPr lang="en-US" sz="1800" dirty="0"/>
          </a:p>
        </p:txBody>
      </p:sp>
      <p:sp>
        <p:nvSpPr>
          <p:cNvPr id="18" name="rec 5 fundo"/>
          <p:cNvSpPr/>
          <p:nvPr/>
        </p:nvSpPr>
        <p:spPr>
          <a:xfrm>
            <a:off x="8127797" y="3977640"/>
            <a:ext cx="3515258" cy="2103120"/>
          </a:xfrm>
          <a:prstGeom prst="roundRect">
            <a:avLst>
              <a:gd name="adj" fmla="val 3478"/>
            </a:avLst>
          </a:prstGeom>
          <a:solidFill>
            <a:srgbClr val="184F95"/>
          </a:solidFill>
          <a:ln/>
        </p:spPr>
      </p:sp>
      <p:sp>
        <p:nvSpPr>
          <p:cNvPr id="19" name="rec 5 numero"/>
          <p:cNvSpPr txBox="1"/>
          <p:nvPr/>
        </p:nvSpPr>
        <p:spPr>
          <a:xfrm>
            <a:off x="8402117" y="41605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86B6EF"/>
                </a:solidFill>
              </a:rPr>
              <a:t>6</a:t>
            </a:r>
            <a:endParaRPr lang="en-US" sz="3000" dirty="0"/>
          </a:p>
        </p:txBody>
      </p:sp>
      <p:sp>
        <p:nvSpPr>
          <p:cNvPr id="20" name="rec 5 texto"/>
          <p:cNvSpPr txBox="1"/>
          <p:nvPr/>
        </p:nvSpPr>
        <p:spPr>
          <a:xfrm>
            <a:off x="8402117" y="4754880"/>
            <a:ext cx="29666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Perda para concorrentes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DE2FB"/>
                </a:solidFill>
              </a:rPr>
              <a:t>Um em cada três cancelamentos. Entender o que o concorrente oferece.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rteira">
  <a:themeElements>
    <a:clrScheme name="Carteira">
      <a:dk1>
        <a:srgbClr val="1F2328"/>
      </a:dk1>
      <a:lt1>
        <a:srgbClr val="FFFFFF"/>
      </a:lt1>
      <a:dk2>
        <a:srgbClr val="0D366B"/>
      </a:dk2>
      <a:lt2>
        <a:srgbClr val="F2F4F7"/>
      </a:lt2>
      <a:accent1>
        <a:srgbClr val="2A78D6"/>
      </a:accent1>
      <a:accent2>
        <a:srgbClr val="EB6834"/>
      </a:accent2>
      <a:accent3>
        <a:srgbClr val="1BAF7A"/>
      </a:accent3>
      <a:accent4>
        <a:srgbClr val="EDA100"/>
      </a:accent4>
      <a:accent5>
        <a:srgbClr val="52514E"/>
      </a:accent5>
      <a:accent6>
        <a:srgbClr val="D03B3B"/>
      </a:accent6>
      <a:hlink>
        <a:srgbClr val="2A78D6"/>
      </a:hlink>
      <a:folHlink>
        <a:srgbClr val="4A3AA7"/>
      </a:folHlink>
    </a:clrScheme>
    <a:fontScheme name="Carteira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Retenção e churn da carteira de clientes</dc:title>
  <dc:subject>PptxGenJS Presentation</dc:subject>
  <dc:creator>Ricardo Wolf</dc:creator>
  <cp:lastModifiedBy>Ricardo Wolf</cp:lastModifiedBy>
  <cp:revision>1</cp:revision>
  <dcterms:created xsi:type="dcterms:W3CDTF">2026-10-05T02:47:34Z</dcterms:created>
  <dcterms:modified xsi:type="dcterms:W3CDTF">2026-10-05T02:47:34Z</dcterms:modified>
</cp:coreProperties>
</file>